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0" r:id="rId3"/>
    <p:sldId id="257" r:id="rId4"/>
    <p:sldId id="265" r:id="rId5"/>
    <p:sldId id="267" r:id="rId6"/>
    <p:sldId id="281" r:id="rId7"/>
    <p:sldId id="279" r:id="rId8"/>
    <p:sldId id="278" r:id="rId9"/>
    <p:sldId id="269" r:id="rId10"/>
    <p:sldId id="272" r:id="rId11"/>
    <p:sldId id="270" r:id="rId12"/>
    <p:sldId id="271" r:id="rId13"/>
    <p:sldId id="273" r:id="rId14"/>
    <p:sldId id="274" r:id="rId15"/>
    <p:sldId id="275" r:id="rId16"/>
    <p:sldId id="276" r:id="rId17"/>
    <p:sldId id="28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p:cViewPr varScale="1">
        <p:scale>
          <a:sx n="116" d="100"/>
          <a:sy n="116" d="100"/>
        </p:scale>
        <p:origin x="3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A2FAB-37BA-9B8A-7ED4-EE146674DA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95CC3F-CAB6-C84A-BCC0-3981FB4216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CB335A-6128-CA7E-7594-1DF361F93093}"/>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5" name="Footer Placeholder 4">
            <a:extLst>
              <a:ext uri="{FF2B5EF4-FFF2-40B4-BE49-F238E27FC236}">
                <a16:creationId xmlns:a16="http://schemas.microsoft.com/office/drawing/2014/main" id="{FAEF977B-33D7-2E35-BB93-6E6F435544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3D913-2155-0C75-0003-0565D9B0FA56}"/>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1809893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C22E-B0C5-F3C2-930E-5CAD98DBF2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0AF18C-EC7B-ACA5-975B-F0FCB7FFC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E6D50F-4FBF-4E47-6E14-DFFD7BC9F636}"/>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5" name="Footer Placeholder 4">
            <a:extLst>
              <a:ext uri="{FF2B5EF4-FFF2-40B4-BE49-F238E27FC236}">
                <a16:creationId xmlns:a16="http://schemas.microsoft.com/office/drawing/2014/main" id="{B26FC039-5BFD-E155-5009-5CA87D4D8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E2F6A6-3480-0702-B810-1F0DB4E0B45A}"/>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29172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0D978-C36F-B6D8-AFAB-E22CF1FF8F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02BD63-ED9B-E031-A2AD-1B535E0563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3F50AD-8632-4E05-60F6-AC2B96C4D498}"/>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5" name="Footer Placeholder 4">
            <a:extLst>
              <a:ext uri="{FF2B5EF4-FFF2-40B4-BE49-F238E27FC236}">
                <a16:creationId xmlns:a16="http://schemas.microsoft.com/office/drawing/2014/main" id="{7C9B2D13-9CD2-51D9-8E0A-0B7B7C9454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8A4B0-A343-801D-B03A-1B9C3FBD7E78}"/>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273074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64EF-80E3-2AAB-668C-434BD2E598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F09D02-44AA-5F31-99C9-494B8085CB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B6E3AF-093A-B9D4-6CD6-1CD75D1247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EAD353-2915-EA4E-26A2-150D4CCFC6CE}"/>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6" name="Footer Placeholder 5">
            <a:extLst>
              <a:ext uri="{FF2B5EF4-FFF2-40B4-BE49-F238E27FC236}">
                <a16:creationId xmlns:a16="http://schemas.microsoft.com/office/drawing/2014/main" id="{2731F304-678D-C137-4C74-5BEAFF1EC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612F5-1993-2484-5A17-1AE5B9DBD2DC}"/>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1959727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66612-162F-8F4F-8317-516FE7C3A9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FCB634-4CB7-3A00-F825-52A2FBC032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049F2A-95DC-8D17-9405-6085334591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3996C4-6B84-9FC5-011F-4FBE3F513B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D75F2D-8D36-3375-9924-1750BD7F60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62C9DB-D018-9AF3-50F2-C3B93F4EDA5E}"/>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8" name="Footer Placeholder 7">
            <a:extLst>
              <a:ext uri="{FF2B5EF4-FFF2-40B4-BE49-F238E27FC236}">
                <a16:creationId xmlns:a16="http://schemas.microsoft.com/office/drawing/2014/main" id="{EB773658-FF64-8E49-6E38-BB9A751359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6384F7-B345-2B8D-1A29-A07F9F45DE08}"/>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284738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8DDF-E134-CB3A-8AF7-C398798C47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004BBF-FF0C-0724-A4D5-A914E9C2DDA9}"/>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4" name="Footer Placeholder 3">
            <a:extLst>
              <a:ext uri="{FF2B5EF4-FFF2-40B4-BE49-F238E27FC236}">
                <a16:creationId xmlns:a16="http://schemas.microsoft.com/office/drawing/2014/main" id="{B80BEBD8-CFF0-CA07-9E72-01266EC256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9A213E-15DA-335F-76D1-5F473D62F001}"/>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3606604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EA425D-C252-FDAA-6A92-16A52D97F688}"/>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3" name="Footer Placeholder 2">
            <a:extLst>
              <a:ext uri="{FF2B5EF4-FFF2-40B4-BE49-F238E27FC236}">
                <a16:creationId xmlns:a16="http://schemas.microsoft.com/office/drawing/2014/main" id="{0FD2EA0F-BEAA-DD47-DB77-7B5FEA4BA2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B6E629-AE69-EBA0-66AD-DDB9AB42EA99}"/>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2834852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9E065-75D9-1450-0BA8-68EB01FFED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E600E8-A915-8279-4DDF-3D38864BA3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0D8AB7-0787-0C0F-3855-8437D0807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4B6693-92B4-AB10-DF90-BD8742E14450}"/>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6" name="Footer Placeholder 5">
            <a:extLst>
              <a:ext uri="{FF2B5EF4-FFF2-40B4-BE49-F238E27FC236}">
                <a16:creationId xmlns:a16="http://schemas.microsoft.com/office/drawing/2014/main" id="{360F648B-6B4C-15B7-CFA1-84039E8495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FCCA88-3FBA-0CFC-16DF-1CE36B4B1BBA}"/>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4103964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42C5-3859-331D-4EB4-D8BF18C155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8A03F7-A466-00AE-4677-9B3B572858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E6C829-933B-B734-0857-AF67D96F94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EE4525-C8D1-45C7-2316-5C81F58ED68D}"/>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6" name="Footer Placeholder 5">
            <a:extLst>
              <a:ext uri="{FF2B5EF4-FFF2-40B4-BE49-F238E27FC236}">
                <a16:creationId xmlns:a16="http://schemas.microsoft.com/office/drawing/2014/main" id="{6FE5B0C2-2E8D-6425-45C2-A6BF05C439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0E8A9B-6884-1AFD-F6E1-34F6A7D474EC}"/>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355421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FE797-F3B3-2353-8086-79F5E2B15D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BA009F-5855-1BD3-C0E1-6880947A5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9C1D07-5059-A151-C6A8-B849596AB056}"/>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5" name="Footer Placeholder 4">
            <a:extLst>
              <a:ext uri="{FF2B5EF4-FFF2-40B4-BE49-F238E27FC236}">
                <a16:creationId xmlns:a16="http://schemas.microsoft.com/office/drawing/2014/main" id="{53627904-3A66-3C40-A06F-F42FD800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E009D-711F-5CC2-2FB1-AC77E93A8FFD}"/>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47891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BBC507-E767-1C34-855F-7749C5BDDF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7028AF-5511-5CCF-BEC8-477EB46D47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EC5D8D-7F02-6BB8-AC52-6D78E6BE2CB8}"/>
              </a:ext>
            </a:extLst>
          </p:cNvPr>
          <p:cNvSpPr>
            <a:spLocks noGrp="1"/>
          </p:cNvSpPr>
          <p:nvPr>
            <p:ph type="dt" sz="half" idx="10"/>
          </p:nvPr>
        </p:nvSpPr>
        <p:spPr/>
        <p:txBody>
          <a:bodyPr/>
          <a:lstStyle/>
          <a:p>
            <a:fld id="{C3EB9E02-03D9-F24C-9A2B-F7AEA91E96D3}" type="datetimeFigureOut">
              <a:rPr lang="en-US" smtClean="0"/>
              <a:t>11/11/25</a:t>
            </a:fld>
            <a:endParaRPr lang="en-US"/>
          </a:p>
        </p:txBody>
      </p:sp>
      <p:sp>
        <p:nvSpPr>
          <p:cNvPr id="5" name="Footer Placeholder 4">
            <a:extLst>
              <a:ext uri="{FF2B5EF4-FFF2-40B4-BE49-F238E27FC236}">
                <a16:creationId xmlns:a16="http://schemas.microsoft.com/office/drawing/2014/main" id="{DD09B0CE-316B-FB2A-536C-A148416EF9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FBB51-AC10-A2A5-DA86-87A95DACFD13}"/>
              </a:ext>
            </a:extLst>
          </p:cNvPr>
          <p:cNvSpPr>
            <a:spLocks noGrp="1"/>
          </p:cNvSpPr>
          <p:nvPr>
            <p:ph type="sldNum" sz="quarter" idx="12"/>
          </p:nvPr>
        </p:nvSpPr>
        <p:spPr/>
        <p:txBody>
          <a:bodyPr/>
          <a:lstStyle/>
          <a:p>
            <a:fld id="{6C285D6B-4E29-A94C-8655-65599D856061}" type="slidenum">
              <a:rPr lang="en-US" smtClean="0"/>
              <a:t>‹#›</a:t>
            </a:fld>
            <a:endParaRPr lang="en-US"/>
          </a:p>
        </p:txBody>
      </p:sp>
    </p:spTree>
    <p:extLst>
      <p:ext uri="{BB962C8B-B14F-4D97-AF65-F5344CB8AC3E}">
        <p14:creationId xmlns:p14="http://schemas.microsoft.com/office/powerpoint/2010/main" val="197360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4F4A2-AECE-835E-A62F-FA3CBD2E54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3D0351-23DD-FB2C-46BD-83F2C0A53B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47577-95B0-A789-AB15-32DA21F3BC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EB9E02-03D9-F24C-9A2B-F7AEA91E96D3}" type="datetimeFigureOut">
              <a:rPr lang="en-US" smtClean="0"/>
              <a:t>11/11/25</a:t>
            </a:fld>
            <a:endParaRPr lang="en-US"/>
          </a:p>
        </p:txBody>
      </p:sp>
      <p:sp>
        <p:nvSpPr>
          <p:cNvPr id="5" name="Footer Placeholder 4">
            <a:extLst>
              <a:ext uri="{FF2B5EF4-FFF2-40B4-BE49-F238E27FC236}">
                <a16:creationId xmlns:a16="http://schemas.microsoft.com/office/drawing/2014/main" id="{93E522F1-B0C5-2E81-C293-5F4F205A7A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A9EEC1-E511-8033-BC60-6E0D13E72F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285D6B-4E29-A94C-8655-65599D856061}" type="slidenum">
              <a:rPr lang="en-US" smtClean="0"/>
              <a:t>‹#›</a:t>
            </a:fld>
            <a:endParaRPr lang="en-US"/>
          </a:p>
        </p:txBody>
      </p:sp>
    </p:spTree>
    <p:extLst>
      <p:ext uri="{BB962C8B-B14F-4D97-AF65-F5344CB8AC3E}">
        <p14:creationId xmlns:p14="http://schemas.microsoft.com/office/powerpoint/2010/main" val="943870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kaggle.com/code/dansbecker/model-validation#The-Problem-with-%22In-Sample%22-Scores"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5543E-59EC-1F90-205F-73E3C3718574}"/>
              </a:ext>
            </a:extLst>
          </p:cNvPr>
          <p:cNvSpPr>
            <a:spLocks noGrp="1"/>
          </p:cNvSpPr>
          <p:nvPr>
            <p:ph type="ctrTitle"/>
          </p:nvPr>
        </p:nvSpPr>
        <p:spPr>
          <a:xfrm>
            <a:off x="1524000" y="1357313"/>
            <a:ext cx="9144000" cy="1238250"/>
          </a:xfrm>
        </p:spPr>
        <p:txBody>
          <a:bodyPr/>
          <a:lstStyle/>
          <a:p>
            <a:r>
              <a:rPr lang="en-US" dirty="0"/>
              <a:t>Intro to Machine Learning</a:t>
            </a:r>
          </a:p>
        </p:txBody>
      </p:sp>
      <p:pic>
        <p:nvPicPr>
          <p:cNvPr id="1026" name="Picture 2" descr="WiDS Worldwide | Inspiring, Educating, and Supporting Women in Data Science">
            <a:extLst>
              <a:ext uri="{FF2B5EF4-FFF2-40B4-BE49-F238E27FC236}">
                <a16:creationId xmlns:a16="http://schemas.microsoft.com/office/drawing/2014/main" id="{A6436CFC-C086-24B4-4D06-2D23A4325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4403" y="5534025"/>
            <a:ext cx="2269010" cy="10334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6559D37-C834-E9EF-9279-E4DE765DE06B}"/>
              </a:ext>
            </a:extLst>
          </p:cNvPr>
          <p:cNvSpPr txBox="1"/>
          <p:nvPr/>
        </p:nvSpPr>
        <p:spPr>
          <a:xfrm>
            <a:off x="5324474" y="2705099"/>
            <a:ext cx="3633789" cy="369332"/>
          </a:xfrm>
          <a:prstGeom prst="rect">
            <a:avLst/>
          </a:prstGeom>
          <a:noFill/>
        </p:spPr>
        <p:txBody>
          <a:bodyPr wrap="square" rtlCol="0">
            <a:spAutoFit/>
          </a:bodyPr>
          <a:lstStyle/>
          <a:p>
            <a:r>
              <a:rPr lang="en-US" b="1" dirty="0"/>
              <a:t>Tej Gorde</a:t>
            </a:r>
          </a:p>
        </p:txBody>
      </p:sp>
    </p:spTree>
    <p:extLst>
      <p:ext uri="{BB962C8B-B14F-4D97-AF65-F5344CB8AC3E}">
        <p14:creationId xmlns:p14="http://schemas.microsoft.com/office/powerpoint/2010/main" val="766605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90E8-8963-CE05-DAB2-2D79572E1473}"/>
              </a:ext>
            </a:extLst>
          </p:cNvPr>
          <p:cNvSpPr>
            <a:spLocks noGrp="1"/>
          </p:cNvSpPr>
          <p:nvPr>
            <p:ph type="title"/>
          </p:nvPr>
        </p:nvSpPr>
        <p:spPr>
          <a:xfrm>
            <a:off x="838200" y="365125"/>
            <a:ext cx="10515600" cy="549275"/>
          </a:xfrm>
        </p:spPr>
        <p:txBody>
          <a:bodyPr>
            <a:normAutofit fontScale="90000"/>
          </a:bodyPr>
          <a:lstStyle/>
          <a:p>
            <a:r>
              <a:rPr lang="en-US" dirty="0"/>
              <a:t>Index</a:t>
            </a:r>
          </a:p>
        </p:txBody>
      </p:sp>
      <p:sp>
        <p:nvSpPr>
          <p:cNvPr id="3" name="Content Placeholder 2">
            <a:extLst>
              <a:ext uri="{FF2B5EF4-FFF2-40B4-BE49-F238E27FC236}">
                <a16:creationId xmlns:a16="http://schemas.microsoft.com/office/drawing/2014/main" id="{E397AC17-A465-6ABF-1595-4E30C790FA11}"/>
              </a:ext>
            </a:extLst>
          </p:cNvPr>
          <p:cNvSpPr>
            <a:spLocks noGrp="1"/>
          </p:cNvSpPr>
          <p:nvPr>
            <p:ph idx="1"/>
          </p:nvPr>
        </p:nvSpPr>
        <p:spPr>
          <a:xfrm>
            <a:off x="838200" y="1010093"/>
            <a:ext cx="10515600" cy="5166870"/>
          </a:xfrm>
        </p:spPr>
        <p:txBody>
          <a:bodyPr/>
          <a:lstStyle/>
          <a:p>
            <a:pPr>
              <a:lnSpc>
                <a:spcPct val="200000"/>
              </a:lnSpc>
            </a:pPr>
            <a:r>
              <a:rPr lang="en-US" sz="1600" dirty="0"/>
              <a:t>How Models Work</a:t>
            </a:r>
          </a:p>
          <a:p>
            <a:pPr>
              <a:lnSpc>
                <a:spcPct val="200000"/>
              </a:lnSpc>
            </a:pPr>
            <a:r>
              <a:rPr lang="en-US" sz="1600" dirty="0"/>
              <a:t>Basic Data Exploration</a:t>
            </a:r>
          </a:p>
          <a:p>
            <a:pPr>
              <a:lnSpc>
                <a:spcPct val="200000"/>
              </a:lnSpc>
            </a:pPr>
            <a:r>
              <a:rPr lang="en-US" sz="1600" dirty="0"/>
              <a:t>Your First Machine Learning Model</a:t>
            </a:r>
          </a:p>
          <a:p>
            <a:pPr>
              <a:lnSpc>
                <a:spcPct val="200000"/>
              </a:lnSpc>
            </a:pPr>
            <a:r>
              <a:rPr lang="en-US" sz="1600" dirty="0"/>
              <a:t>Model Validation</a:t>
            </a:r>
          </a:p>
          <a:p>
            <a:pPr>
              <a:lnSpc>
                <a:spcPct val="200000"/>
              </a:lnSpc>
            </a:pPr>
            <a:r>
              <a:rPr lang="en-US" sz="1600" dirty="0"/>
              <a:t>Underfitting &amp; Overfitting</a:t>
            </a:r>
          </a:p>
          <a:p>
            <a:pPr>
              <a:lnSpc>
                <a:spcPct val="200000"/>
              </a:lnSpc>
            </a:pPr>
            <a:r>
              <a:rPr lang="en-US" sz="1600" dirty="0"/>
              <a:t>Random Forests</a:t>
            </a:r>
          </a:p>
          <a:p>
            <a:pPr>
              <a:lnSpc>
                <a:spcPct val="200000"/>
              </a:lnSpc>
            </a:pPr>
            <a:r>
              <a:rPr lang="en-US" sz="1600" dirty="0"/>
              <a:t>Machine Learning Competitions</a:t>
            </a:r>
          </a:p>
          <a:p>
            <a:pPr marL="0" indent="0">
              <a:buNone/>
            </a:pPr>
            <a:endParaRPr lang="en-US" dirty="0"/>
          </a:p>
        </p:txBody>
      </p:sp>
      <p:pic>
        <p:nvPicPr>
          <p:cNvPr id="4" name="Picture 2" descr="WiDS Worldwide | Inspiring, Educating, and Supporting Women in Data Science">
            <a:extLst>
              <a:ext uri="{FF2B5EF4-FFF2-40B4-BE49-F238E27FC236}">
                <a16:creationId xmlns:a16="http://schemas.microsoft.com/office/drawing/2014/main" id="{AF57BA87-9FEB-78D5-487D-C384C2A91D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D81A509-5928-B52F-F68F-9034B4F087DC}"/>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spTree>
    <p:extLst>
      <p:ext uri="{BB962C8B-B14F-4D97-AF65-F5344CB8AC3E}">
        <p14:creationId xmlns:p14="http://schemas.microsoft.com/office/powerpoint/2010/main" val="3545377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A2275-F5F2-44E8-ADCA-063417057928}"/>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D0D599FA-58EF-09AC-D58E-752A24EC17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89C2A9E4-3F9B-E8E9-BD3B-1A45E78E2496}"/>
              </a:ext>
            </a:extLst>
          </p:cNvPr>
          <p:cNvSpPr>
            <a:spLocks noGrp="1"/>
          </p:cNvSpPr>
          <p:nvPr>
            <p:ph type="ctrTitle"/>
          </p:nvPr>
        </p:nvSpPr>
        <p:spPr>
          <a:xfrm>
            <a:off x="0" y="92037"/>
            <a:ext cx="2955851" cy="492753"/>
          </a:xfrm>
        </p:spPr>
        <p:txBody>
          <a:bodyPr>
            <a:normAutofit/>
          </a:bodyPr>
          <a:lstStyle/>
          <a:p>
            <a:r>
              <a:rPr lang="en-US" sz="2400" b="1" u="sng" dirty="0">
                <a:solidFill>
                  <a:schemeClr val="accent6">
                    <a:lumMod val="75000"/>
                  </a:schemeClr>
                </a:solidFill>
              </a:rPr>
              <a:t>How Models Work</a:t>
            </a:r>
          </a:p>
        </p:txBody>
      </p:sp>
      <p:sp>
        <p:nvSpPr>
          <p:cNvPr id="8" name="TextBox 7">
            <a:extLst>
              <a:ext uri="{FF2B5EF4-FFF2-40B4-BE49-F238E27FC236}">
                <a16:creationId xmlns:a16="http://schemas.microsoft.com/office/drawing/2014/main" id="{0AD4E28B-E8D0-C0CC-C57A-BCDF83350E5A}"/>
              </a:ext>
            </a:extLst>
          </p:cNvPr>
          <p:cNvSpPr txBox="1"/>
          <p:nvPr/>
        </p:nvSpPr>
        <p:spPr>
          <a:xfrm>
            <a:off x="230372" y="801469"/>
            <a:ext cx="11731256" cy="5262979"/>
          </a:xfrm>
          <a:prstGeom prst="rect">
            <a:avLst/>
          </a:prstGeom>
          <a:noFill/>
        </p:spPr>
        <p:txBody>
          <a:bodyPr wrap="square">
            <a:spAutoFit/>
          </a:bodyPr>
          <a:lstStyle/>
          <a:p>
            <a:pPr algn="l"/>
            <a:r>
              <a:rPr lang="en-US" sz="1600" b="1" i="0" u="none" strike="noStrike" dirty="0">
                <a:solidFill>
                  <a:srgbClr val="000000"/>
                </a:solidFill>
                <a:effectLst/>
                <a:latin typeface="Calibri" panose="020F0502020204030204" pitchFamily="34" charset="0"/>
                <a:cs typeface="Calibri" panose="020F0502020204030204" pitchFamily="34" charset="0"/>
              </a:rPr>
              <a:t>The Real Estate Prediction Challenge 🏠</a:t>
            </a:r>
          </a:p>
          <a:p>
            <a:pPr algn="l"/>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1" i="0" strike="noStrike" dirty="0">
                <a:solidFill>
                  <a:schemeClr val="accent3"/>
                </a:solidFill>
                <a:effectLst/>
                <a:latin typeface="Calibri" panose="020F0502020204030204" pitchFamily="34" charset="0"/>
                <a:cs typeface="Calibri" panose="020F0502020204030204" pitchFamily="34" charset="0"/>
              </a:rPr>
              <a:t>Imagine this scenario : </a:t>
            </a:r>
            <a:r>
              <a:rPr lang="en-US" sz="1600" b="0" i="0" u="none" strike="noStrike" dirty="0">
                <a:solidFill>
                  <a:srgbClr val="000000"/>
                </a:solidFill>
                <a:effectLst/>
                <a:latin typeface="Calibri" panose="020F0502020204030204" pitchFamily="34" charset="0"/>
                <a:cs typeface="Calibri" panose="020F0502020204030204" pitchFamily="34" charset="0"/>
              </a:rPr>
              <a:t>Your cousin is a successful real estate investor who has made millions by buying and selling houses. He wants to partner with you because of your interest in data science. </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The deal? He provides the money, and you create models to predict house prices accurately.</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1" i="0" u="none" strike="noStrike" dirty="0">
                <a:solidFill>
                  <a:srgbClr val="000000"/>
                </a:solidFill>
                <a:effectLst/>
                <a:latin typeface="Calibri" panose="020F0502020204030204" pitchFamily="34" charset="0"/>
                <a:cs typeface="Calibri" panose="020F0502020204030204" pitchFamily="34" charset="0"/>
              </a:rPr>
              <a:t>How Do We Predict House Prices? 🤔</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When you ask your cousin how he predicts house prices, he says it's "just intuition." But after talking more, you discover that he's actually:</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0" i="0" u="none" strike="noStrike" dirty="0">
                <a:solidFill>
                  <a:srgbClr val="000000"/>
                </a:solidFill>
                <a:effectLst/>
                <a:latin typeface="Calibri" panose="020F0502020204030204" pitchFamily="34" charset="0"/>
                <a:cs typeface="Calibri" panose="020F0502020204030204" pitchFamily="34" charset="0"/>
              </a:rPr>
              <a:t>Observed patterns in house prices from past sales</a:t>
            </a:r>
          </a:p>
          <a:p>
            <a:pPr algn="l"/>
            <a:r>
              <a:rPr lang="en-US" sz="1600" dirty="0">
                <a:solidFill>
                  <a:srgbClr val="000000"/>
                </a:solidFill>
                <a:latin typeface="Calibri" panose="020F0502020204030204" pitchFamily="34" charset="0"/>
                <a:cs typeface="Calibri" panose="020F0502020204030204" pitchFamily="34" charset="0"/>
              </a:rPr>
              <a:t>&amp;</a:t>
            </a: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0" i="0" u="none" strike="noStrike" dirty="0">
                <a:solidFill>
                  <a:srgbClr val="000000"/>
                </a:solidFill>
                <a:effectLst/>
                <a:latin typeface="Calibri" panose="020F0502020204030204" pitchFamily="34" charset="0"/>
                <a:cs typeface="Calibri" panose="020F0502020204030204" pitchFamily="34" charset="0"/>
              </a:rPr>
              <a:t>Used these patterns to make predictions about new houses</a:t>
            </a:r>
          </a:p>
          <a:p>
            <a:pPr algn="l">
              <a:buFont typeface="+mj-lt"/>
              <a:buAutoNum type="arabicPeriod"/>
            </a:pP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0" i="0" u="none" strike="noStrike" dirty="0">
                <a:solidFill>
                  <a:srgbClr val="000000"/>
                </a:solidFill>
                <a:effectLst/>
                <a:latin typeface="Calibri" panose="020F0502020204030204" pitchFamily="34" charset="0"/>
                <a:cs typeface="Calibri" panose="020F0502020204030204" pitchFamily="34" charset="0"/>
              </a:rPr>
              <a:t>This is exactly how machine learning works!</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1" i="0" u="none" strike="noStrike" dirty="0">
                <a:solidFill>
                  <a:srgbClr val="000000"/>
                </a:solidFill>
                <a:effectLst/>
                <a:latin typeface="Calibri" panose="020F0502020204030204" pitchFamily="34" charset="0"/>
                <a:cs typeface="Calibri" panose="020F0502020204030204" pitchFamily="34" charset="0"/>
              </a:rPr>
              <a:t>Understanding Decision Trees 🌳</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We'll start with a simple but powerful model called a Decision Tree. While there are more sophisticated models out there, decision trees are:</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Easy to understand</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Great for learning the basics</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Building blocks for advanced machine learning models</a:t>
            </a:r>
          </a:p>
        </p:txBody>
      </p:sp>
      <p:sp>
        <p:nvSpPr>
          <p:cNvPr id="9" name="TextBox 8">
            <a:extLst>
              <a:ext uri="{FF2B5EF4-FFF2-40B4-BE49-F238E27FC236}">
                <a16:creationId xmlns:a16="http://schemas.microsoft.com/office/drawing/2014/main" id="{EEE0D3B7-C565-B733-CDB4-F05E5DB01C46}"/>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spTree>
    <p:extLst>
      <p:ext uri="{BB962C8B-B14F-4D97-AF65-F5344CB8AC3E}">
        <p14:creationId xmlns:p14="http://schemas.microsoft.com/office/powerpoint/2010/main" val="366737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645B5-E46D-5A39-2664-57D868ED26CB}"/>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F2968313-9D27-1820-2985-0AFB2297D6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6CC430C8-3A1F-3815-7629-7282CB1FF28E}"/>
              </a:ext>
            </a:extLst>
          </p:cNvPr>
          <p:cNvSpPr>
            <a:spLocks noGrp="1"/>
          </p:cNvSpPr>
          <p:nvPr>
            <p:ph type="ctrTitle"/>
          </p:nvPr>
        </p:nvSpPr>
        <p:spPr>
          <a:xfrm>
            <a:off x="0" y="92037"/>
            <a:ext cx="3583172" cy="492753"/>
          </a:xfrm>
        </p:spPr>
        <p:txBody>
          <a:bodyPr>
            <a:normAutofit/>
          </a:bodyPr>
          <a:lstStyle/>
          <a:p>
            <a:r>
              <a:rPr lang="en-US" sz="2000" b="1" dirty="0"/>
              <a:t>Understanding Decision Tress</a:t>
            </a:r>
          </a:p>
        </p:txBody>
      </p:sp>
      <p:sp>
        <p:nvSpPr>
          <p:cNvPr id="9" name="TextBox 8">
            <a:extLst>
              <a:ext uri="{FF2B5EF4-FFF2-40B4-BE49-F238E27FC236}">
                <a16:creationId xmlns:a16="http://schemas.microsoft.com/office/drawing/2014/main" id="{15E2B87E-5FE8-7055-D56F-07EB2757ECAB}"/>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descr="A diagram of a tree&#10;&#10;Description automatically generated">
            <a:extLst>
              <a:ext uri="{FF2B5EF4-FFF2-40B4-BE49-F238E27FC236}">
                <a16:creationId xmlns:a16="http://schemas.microsoft.com/office/drawing/2014/main" id="{FEF54539-92D8-BB2D-3E1B-01B6D14E7644}"/>
              </a:ext>
            </a:extLst>
          </p:cNvPr>
          <p:cNvPicPr>
            <a:picLocks noChangeAspect="1"/>
          </p:cNvPicPr>
          <p:nvPr/>
        </p:nvPicPr>
        <p:blipFill>
          <a:blip r:embed="rId3"/>
          <a:stretch>
            <a:fillRect/>
          </a:stretch>
        </p:blipFill>
        <p:spPr>
          <a:xfrm>
            <a:off x="7688510" y="1484292"/>
            <a:ext cx="3993200" cy="2843158"/>
          </a:xfrm>
          <a:prstGeom prst="rect">
            <a:avLst/>
          </a:prstGeom>
        </p:spPr>
      </p:pic>
      <p:sp>
        <p:nvSpPr>
          <p:cNvPr id="5" name="TextBox 4">
            <a:extLst>
              <a:ext uri="{FF2B5EF4-FFF2-40B4-BE49-F238E27FC236}">
                <a16:creationId xmlns:a16="http://schemas.microsoft.com/office/drawing/2014/main" id="{D0AD91CF-F8CD-6286-35F5-E097A4214094}"/>
              </a:ext>
            </a:extLst>
          </p:cNvPr>
          <p:cNvSpPr txBox="1"/>
          <p:nvPr/>
        </p:nvSpPr>
        <p:spPr>
          <a:xfrm>
            <a:off x="209267" y="584790"/>
            <a:ext cx="7393012" cy="5016758"/>
          </a:xfrm>
          <a:prstGeom prst="rect">
            <a:avLst/>
          </a:prstGeom>
          <a:noFill/>
        </p:spPr>
        <p:txBody>
          <a:bodyPr wrap="square">
            <a:spAutoFit/>
          </a:bodyPr>
          <a:lstStyle/>
          <a:p>
            <a:pPr algn="l"/>
            <a:endParaRPr lang="en-US" sz="1600" b="0" i="0" u="none" strike="noStrike" dirty="0">
              <a:solidFill>
                <a:srgbClr val="000000"/>
              </a:solidFill>
              <a:effectLst/>
            </a:endParaRPr>
          </a:p>
          <a:p>
            <a:pPr algn="l"/>
            <a:r>
              <a:rPr lang="en-US" sz="1600" b="0" i="0" u="none" strike="noStrike" dirty="0">
                <a:solidFill>
                  <a:srgbClr val="000000"/>
                </a:solidFill>
                <a:effectLst/>
              </a:rPr>
              <a:t>This model </a:t>
            </a:r>
            <a:r>
              <a:rPr lang="en-US" sz="1600" dirty="0">
                <a:solidFill>
                  <a:srgbClr val="000000"/>
                </a:solidFill>
              </a:rPr>
              <a:t>a</a:t>
            </a:r>
            <a:r>
              <a:rPr lang="en-US" sz="1600" b="0" i="0" u="none" strike="noStrike" dirty="0">
                <a:solidFill>
                  <a:srgbClr val="000000"/>
                </a:solidFill>
                <a:effectLst/>
              </a:rPr>
              <a:t>sks just ONE question: "Does the house have more than 2 bedrooms?"</a:t>
            </a:r>
          </a:p>
          <a:p>
            <a:pPr algn="l"/>
            <a:r>
              <a:rPr lang="en-US" sz="1600" b="0" i="0" u="none" strike="noStrike" dirty="0">
                <a:solidFill>
                  <a:srgbClr val="000000"/>
                </a:solidFill>
                <a:effectLst/>
              </a:rPr>
              <a:t>Makes predictions based on TWO possible answers:</a:t>
            </a:r>
          </a:p>
          <a:p>
            <a:pPr marL="742950" lvl="1" indent="-285750" algn="l">
              <a:buFont typeface="+mj-lt"/>
              <a:buAutoNum type="arabicPeriod"/>
            </a:pPr>
            <a:r>
              <a:rPr lang="en-US" sz="1600" b="0" i="0" u="none" strike="noStrike" dirty="0">
                <a:solidFill>
                  <a:srgbClr val="000000"/>
                </a:solidFill>
                <a:effectLst/>
              </a:rPr>
              <a:t>If NO → Predicts $178,000</a:t>
            </a:r>
          </a:p>
          <a:p>
            <a:pPr marL="742950" lvl="1" indent="-285750" algn="l">
              <a:buFont typeface="+mj-lt"/>
              <a:buAutoNum type="arabicPeriod"/>
            </a:pPr>
            <a:r>
              <a:rPr lang="en-US" sz="1600" b="0" i="0" u="none" strike="noStrike" dirty="0">
                <a:solidFill>
                  <a:srgbClr val="000000"/>
                </a:solidFill>
                <a:effectLst/>
              </a:rPr>
              <a:t>If YES → Predicts $188,000</a:t>
            </a:r>
          </a:p>
          <a:p>
            <a:pPr lvl="1" algn="l"/>
            <a:endParaRPr lang="en-US" sz="1600" b="0" i="0" u="none" strike="noStrike" dirty="0">
              <a:solidFill>
                <a:srgbClr val="000000"/>
              </a:solidFill>
              <a:effectLst/>
            </a:endParaRPr>
          </a:p>
          <a:p>
            <a:pPr algn="l"/>
            <a:r>
              <a:rPr lang="en-US" sz="1600" b="1" i="0" u="none" strike="noStrike" dirty="0">
                <a:solidFill>
                  <a:srgbClr val="000000"/>
                </a:solidFill>
                <a:effectLst/>
              </a:rPr>
              <a:t>Key Concepts Explained 📚</a:t>
            </a:r>
          </a:p>
          <a:p>
            <a:pPr algn="l"/>
            <a:endParaRPr lang="en-US" sz="1600" b="1" i="0" u="none" strike="noStrike" dirty="0">
              <a:solidFill>
                <a:srgbClr val="000000"/>
              </a:solidFill>
              <a:effectLst/>
            </a:endParaRPr>
          </a:p>
          <a:p>
            <a:pPr algn="l"/>
            <a:r>
              <a:rPr lang="en-US" sz="1600" b="1" i="0" u="none" strike="noStrike" dirty="0">
                <a:solidFill>
                  <a:srgbClr val="000000"/>
                </a:solidFill>
                <a:effectLst/>
              </a:rPr>
              <a:t>Predicted Prices</a:t>
            </a:r>
          </a:p>
          <a:p>
            <a:pPr algn="l">
              <a:buFont typeface="Arial" panose="020B0604020202020204" pitchFamily="34" charset="0"/>
              <a:buChar char="•"/>
            </a:pPr>
            <a:r>
              <a:rPr lang="en-US" sz="1600" b="0" i="0" u="none" strike="noStrike" dirty="0">
                <a:solidFill>
                  <a:srgbClr val="000000"/>
                </a:solidFill>
                <a:effectLst/>
              </a:rPr>
              <a:t>The predicted price ($178,000 or $188,000) is not random</a:t>
            </a:r>
          </a:p>
          <a:p>
            <a:pPr algn="l">
              <a:buFont typeface="Arial" panose="020B0604020202020204" pitchFamily="34" charset="0"/>
              <a:buChar char="•"/>
            </a:pPr>
            <a:r>
              <a:rPr lang="en-US" sz="1600" b="0" i="0" u="none" strike="noStrike" dirty="0">
                <a:solidFill>
                  <a:srgbClr val="000000"/>
                </a:solidFill>
                <a:effectLst/>
              </a:rPr>
              <a:t>It's the </a:t>
            </a:r>
            <a:r>
              <a:rPr lang="en-US" sz="1600" b="1" i="0" u="none" strike="noStrike" dirty="0">
                <a:solidFill>
                  <a:srgbClr val="000000"/>
                </a:solidFill>
                <a:effectLst/>
              </a:rPr>
              <a:t>historical average price</a:t>
            </a:r>
            <a:r>
              <a:rPr lang="en-US" sz="1600" b="0" i="0" u="none" strike="noStrike" dirty="0">
                <a:solidFill>
                  <a:srgbClr val="000000"/>
                </a:solidFill>
                <a:effectLst/>
              </a:rPr>
              <a:t> of all houses in that category</a:t>
            </a:r>
          </a:p>
          <a:p>
            <a:pPr algn="l">
              <a:buFont typeface="Arial" panose="020B0604020202020204" pitchFamily="34" charset="0"/>
              <a:buChar char="•"/>
            </a:pPr>
            <a:r>
              <a:rPr lang="en-US" sz="1600" b="0" i="0" u="none" strike="noStrike" dirty="0">
                <a:solidFill>
                  <a:srgbClr val="000000"/>
                </a:solidFill>
                <a:effectLst/>
              </a:rPr>
              <a:t>Example: $178,000 is the average price of all houses with ≤2 bedrooms in our data</a:t>
            </a:r>
          </a:p>
          <a:p>
            <a:pPr algn="l"/>
            <a:endParaRPr lang="en-US" sz="1600" b="1" i="0" u="none" strike="noStrike" dirty="0">
              <a:solidFill>
                <a:srgbClr val="000000"/>
              </a:solidFill>
              <a:effectLst/>
            </a:endParaRPr>
          </a:p>
          <a:p>
            <a:pPr algn="l"/>
            <a:r>
              <a:rPr lang="en-US" sz="1600" b="1" i="0" u="none" strike="noStrike" dirty="0">
                <a:solidFill>
                  <a:srgbClr val="000000"/>
                </a:solidFill>
                <a:effectLst/>
              </a:rPr>
              <a:t>Important Terms to Remember for Modeling</a:t>
            </a:r>
          </a:p>
          <a:p>
            <a:pPr algn="l"/>
            <a:endParaRPr lang="en-US" sz="1600" b="1" i="0" u="none" strike="noStrike" dirty="0">
              <a:solidFill>
                <a:srgbClr val="000000"/>
              </a:solidFill>
              <a:effectLst/>
            </a:endParaRPr>
          </a:p>
          <a:p>
            <a:pPr algn="l">
              <a:buFont typeface="Arial" panose="020B0604020202020204" pitchFamily="34" charset="0"/>
              <a:buChar char="•"/>
            </a:pPr>
            <a:r>
              <a:rPr lang="en-US" sz="1600" b="1" i="0" u="none" strike="noStrike" dirty="0">
                <a:solidFill>
                  <a:srgbClr val="000000"/>
                </a:solidFill>
                <a:effectLst/>
              </a:rPr>
              <a:t>Fitting</a:t>
            </a:r>
            <a:r>
              <a:rPr lang="en-US" sz="1600" b="0" i="0" u="none" strike="noStrike" dirty="0">
                <a:solidFill>
                  <a:srgbClr val="000000"/>
                </a:solidFill>
                <a:effectLst/>
              </a:rPr>
              <a:t> or </a:t>
            </a:r>
            <a:r>
              <a:rPr lang="en-US" sz="1600" b="1" i="0" u="none" strike="noStrike" dirty="0">
                <a:solidFill>
                  <a:srgbClr val="000000"/>
                </a:solidFill>
                <a:effectLst/>
              </a:rPr>
              <a:t>Training</a:t>
            </a:r>
            <a:r>
              <a:rPr lang="en-US" sz="1600" b="0" i="0" u="none" strike="noStrike" dirty="0">
                <a:solidFill>
                  <a:srgbClr val="000000"/>
                </a:solidFill>
                <a:effectLst/>
              </a:rPr>
              <a:t>: The process of teaching our model to recognize patterns in data</a:t>
            </a:r>
          </a:p>
          <a:p>
            <a:pPr algn="l">
              <a:buFont typeface="Arial" panose="020B0604020202020204" pitchFamily="34" charset="0"/>
              <a:buChar char="•"/>
            </a:pPr>
            <a:r>
              <a:rPr lang="en-US" sz="1600" b="1" i="0" u="none" strike="noStrike" dirty="0">
                <a:solidFill>
                  <a:srgbClr val="000000"/>
                </a:solidFill>
                <a:effectLst/>
              </a:rPr>
              <a:t>Training Data</a:t>
            </a:r>
            <a:r>
              <a:rPr lang="en-US" sz="1600" b="0" i="0" u="none" strike="noStrike" dirty="0">
                <a:solidFill>
                  <a:srgbClr val="000000"/>
                </a:solidFill>
                <a:effectLst/>
              </a:rPr>
              <a:t>: The historical data we use to teach our model</a:t>
            </a:r>
          </a:p>
          <a:p>
            <a:pPr algn="l">
              <a:buFont typeface="Arial" panose="020B0604020202020204" pitchFamily="34" charset="0"/>
              <a:buChar char="•"/>
            </a:pPr>
            <a:r>
              <a:rPr lang="en-US" sz="1600" b="1" i="0" u="none" strike="noStrike" dirty="0">
                <a:solidFill>
                  <a:srgbClr val="000000"/>
                </a:solidFill>
                <a:effectLst/>
              </a:rPr>
              <a:t>Prediction</a:t>
            </a:r>
            <a:r>
              <a:rPr lang="en-US" sz="1600" b="0" i="0" u="none" strike="noStrike" dirty="0">
                <a:solidFill>
                  <a:srgbClr val="000000"/>
                </a:solidFill>
                <a:effectLst/>
              </a:rPr>
              <a:t>: Using our trained model to estimate prices for new houses</a:t>
            </a:r>
          </a:p>
        </p:txBody>
      </p:sp>
    </p:spTree>
    <p:extLst>
      <p:ext uri="{BB962C8B-B14F-4D97-AF65-F5344CB8AC3E}">
        <p14:creationId xmlns:p14="http://schemas.microsoft.com/office/powerpoint/2010/main" val="1637770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8AECC-0C65-6D61-5389-68AF30D40543}"/>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7AE492EB-6E35-D563-0813-016BD59E9C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61CAF950-54C8-0C9E-F46C-6907DF323B50}"/>
              </a:ext>
            </a:extLst>
          </p:cNvPr>
          <p:cNvSpPr>
            <a:spLocks noGrp="1"/>
          </p:cNvSpPr>
          <p:nvPr>
            <p:ph type="ctrTitle"/>
          </p:nvPr>
        </p:nvSpPr>
        <p:spPr>
          <a:xfrm>
            <a:off x="0" y="92037"/>
            <a:ext cx="2955851" cy="492753"/>
          </a:xfrm>
        </p:spPr>
        <p:txBody>
          <a:bodyPr>
            <a:normAutofit/>
          </a:bodyPr>
          <a:lstStyle/>
          <a:p>
            <a:r>
              <a:rPr lang="en-US" sz="2000" b="1" dirty="0"/>
              <a:t>Improving Decision Tree</a:t>
            </a:r>
          </a:p>
        </p:txBody>
      </p:sp>
      <p:sp>
        <p:nvSpPr>
          <p:cNvPr id="8" name="TextBox 7">
            <a:extLst>
              <a:ext uri="{FF2B5EF4-FFF2-40B4-BE49-F238E27FC236}">
                <a16:creationId xmlns:a16="http://schemas.microsoft.com/office/drawing/2014/main" id="{FA5CF53B-E7D1-428D-DEC6-3900D655E46E}"/>
              </a:ext>
            </a:extLst>
          </p:cNvPr>
          <p:cNvSpPr txBox="1"/>
          <p:nvPr/>
        </p:nvSpPr>
        <p:spPr>
          <a:xfrm>
            <a:off x="230372" y="801469"/>
            <a:ext cx="11731256" cy="5262979"/>
          </a:xfrm>
          <a:prstGeom prst="rect">
            <a:avLst/>
          </a:prstGeom>
          <a:noFill/>
        </p:spPr>
        <p:txBody>
          <a:bodyPr wrap="square">
            <a:spAutoFit/>
          </a:bodyPr>
          <a:lstStyle/>
          <a:p>
            <a:pPr algn="l"/>
            <a:r>
              <a:rPr lang="en-US" sz="1600" b="0" i="0" u="none" strike="noStrike" dirty="0">
                <a:solidFill>
                  <a:srgbClr val="3C4043"/>
                </a:solidFill>
                <a:effectLst/>
                <a:latin typeface="Inter"/>
              </a:rPr>
              <a:t>We can capture more factors of a house using a tree that has more "splits." These are called "deeper" trees. </a:t>
            </a:r>
          </a:p>
          <a:p>
            <a:pPr algn="l"/>
            <a:endParaRPr lang="en-US" sz="1600" dirty="0">
              <a:solidFill>
                <a:srgbClr val="3C4043"/>
              </a:solidFill>
              <a:latin typeface="Inter"/>
            </a:endParaRPr>
          </a:p>
          <a:p>
            <a:pPr algn="l"/>
            <a:r>
              <a:rPr lang="en-US" sz="1600" b="0" i="0" u="none" strike="noStrike" dirty="0">
                <a:solidFill>
                  <a:srgbClr val="3C4043"/>
                </a:solidFill>
                <a:effectLst/>
                <a:latin typeface="Inter"/>
              </a:rPr>
              <a:t>A decision tree that also considers the total size of each house's lot might look like this:</a:t>
            </a:r>
          </a:p>
          <a:p>
            <a:pPr algn="l"/>
            <a:endParaRPr lang="en-US" sz="1600" dirty="0">
              <a:solidFill>
                <a:srgbClr val="3C4043"/>
              </a:solidFill>
              <a:latin typeface="Inter"/>
            </a:endParaRPr>
          </a:p>
          <a:p>
            <a:pPr algn="l"/>
            <a:endParaRPr lang="en-US" sz="1600" b="0" i="0" u="none" strike="noStrike" dirty="0">
              <a:solidFill>
                <a:srgbClr val="3C4043"/>
              </a:solidFill>
              <a:effectLst/>
              <a:latin typeface="Inter"/>
            </a:endParaRPr>
          </a:p>
          <a:p>
            <a:pPr algn="l"/>
            <a:r>
              <a:rPr lang="en-US" sz="1600" b="1" i="0" u="none" strike="noStrike" dirty="0">
                <a:solidFill>
                  <a:srgbClr val="000000"/>
                </a:solidFill>
                <a:effectLst/>
              </a:rPr>
              <a:t>Leaf</a:t>
            </a:r>
          </a:p>
          <a:p>
            <a:pPr algn="l">
              <a:buFont typeface="Arial" panose="020B0604020202020204" pitchFamily="34" charset="0"/>
              <a:buChar char="•"/>
            </a:pPr>
            <a:r>
              <a:rPr lang="en-US" sz="1600" b="0" i="0" u="none" strike="noStrike" dirty="0">
                <a:solidFill>
                  <a:srgbClr val="000000"/>
                </a:solidFill>
                <a:effectLst/>
              </a:rPr>
              <a:t>The end points at the bottom of the tree</a:t>
            </a:r>
          </a:p>
          <a:p>
            <a:pPr algn="l">
              <a:buFont typeface="Arial" panose="020B0604020202020204" pitchFamily="34" charset="0"/>
              <a:buChar char="•"/>
            </a:pPr>
            <a:r>
              <a:rPr lang="en-US" sz="1600" b="0" i="0" u="none" strike="noStrike" dirty="0">
                <a:solidFill>
                  <a:srgbClr val="000000"/>
                </a:solidFill>
                <a:effectLst/>
              </a:rPr>
              <a:t>Where we make our final price predictions</a:t>
            </a:r>
          </a:p>
          <a:p>
            <a:pPr algn="l">
              <a:buFont typeface="Arial" panose="020B0604020202020204" pitchFamily="34" charset="0"/>
              <a:buChar char="•"/>
            </a:pPr>
            <a:r>
              <a:rPr lang="en-US" sz="1600" b="0" i="0" u="none" strike="noStrike" dirty="0">
                <a:solidFill>
                  <a:srgbClr val="000000"/>
                </a:solidFill>
                <a:effectLst/>
              </a:rPr>
              <a:t>In this tree, we have 4 leaves ($146K, $188K, $170K, $233K)</a:t>
            </a:r>
          </a:p>
          <a:p>
            <a:pPr algn="l"/>
            <a:endParaRPr lang="en-US" sz="1600" b="0" i="0" u="none" strike="noStrike" dirty="0">
              <a:solidFill>
                <a:srgbClr val="000000"/>
              </a:solidFill>
              <a:effectLst/>
            </a:endParaRPr>
          </a:p>
          <a:p>
            <a:pPr algn="l"/>
            <a:r>
              <a:rPr lang="en-US" sz="1600" b="1" i="0" u="none" strike="noStrike" dirty="0">
                <a:solidFill>
                  <a:srgbClr val="000000"/>
                </a:solidFill>
                <a:effectLst/>
              </a:rPr>
              <a:t>Split</a:t>
            </a:r>
          </a:p>
          <a:p>
            <a:pPr algn="l">
              <a:buFont typeface="Arial" panose="020B0604020202020204" pitchFamily="34" charset="0"/>
              <a:buChar char="•"/>
            </a:pPr>
            <a:r>
              <a:rPr lang="en-US" sz="1600" b="0" i="0" u="none" strike="noStrike" dirty="0">
                <a:solidFill>
                  <a:srgbClr val="000000"/>
                </a:solidFill>
                <a:effectLst/>
              </a:rPr>
              <a:t>The decision points in the tree</a:t>
            </a:r>
          </a:p>
          <a:p>
            <a:pPr algn="l">
              <a:buFont typeface="Arial" panose="020B0604020202020204" pitchFamily="34" charset="0"/>
              <a:buChar char="•"/>
            </a:pPr>
            <a:r>
              <a:rPr lang="en-US" sz="1600" b="0" i="0" u="none" strike="noStrike" dirty="0">
                <a:solidFill>
                  <a:srgbClr val="000000"/>
                </a:solidFill>
                <a:effectLst/>
              </a:rPr>
              <a:t>Where we ask questions about features</a:t>
            </a:r>
          </a:p>
          <a:p>
            <a:pPr algn="l">
              <a:buFont typeface="Arial" panose="020B0604020202020204" pitchFamily="34" charset="0"/>
              <a:buChar char="•"/>
            </a:pPr>
            <a:r>
              <a:rPr lang="en-US" sz="1600" b="0" i="0" u="none" strike="noStrike" dirty="0">
                <a:solidFill>
                  <a:srgbClr val="000000"/>
                </a:solidFill>
                <a:effectLst/>
              </a:rPr>
              <a:t>This tree has 3 splits (1 bedroom split, 2 lot size splits)</a:t>
            </a:r>
          </a:p>
          <a:p>
            <a:pPr algn="l"/>
            <a:endParaRPr lang="en-US" sz="1600" dirty="0">
              <a:solidFill>
                <a:srgbClr val="3C4043"/>
              </a:solidFill>
              <a:latin typeface="Inter"/>
              <a:cs typeface="Calibri" panose="020F0502020204030204" pitchFamily="34" charset="0"/>
            </a:endParaRPr>
          </a:p>
          <a:p>
            <a:pPr algn="l"/>
            <a:endParaRPr lang="en-US" sz="1600" dirty="0">
              <a:solidFill>
                <a:srgbClr val="3C4043"/>
              </a:solidFill>
              <a:latin typeface="Inter"/>
              <a:cs typeface="Calibri" panose="020F0502020204030204" pitchFamily="34" charset="0"/>
            </a:endParaRPr>
          </a:p>
          <a:p>
            <a:pPr algn="l"/>
            <a:r>
              <a:rPr lang="en-US" sz="1600" dirty="0"/>
              <a:t>Considers multiple factors</a:t>
            </a:r>
          </a:p>
          <a:p>
            <a:pPr algn="l"/>
            <a:r>
              <a:rPr lang="en-US" sz="1600" dirty="0"/>
              <a:t>Provides more specific predictions</a:t>
            </a:r>
          </a:p>
          <a:p>
            <a:pPr algn="l"/>
            <a:r>
              <a:rPr lang="en-US" sz="1600" dirty="0"/>
              <a:t>Better reflects real market conditions</a:t>
            </a:r>
            <a:endParaRPr lang="en-US" sz="1600" dirty="0">
              <a:solidFill>
                <a:srgbClr val="3C4043"/>
              </a:solidFill>
              <a:latin typeface="Inter"/>
              <a:cs typeface="Calibri" panose="020F0502020204030204" pitchFamily="34" charset="0"/>
            </a:endParaRPr>
          </a:p>
          <a:p>
            <a:pPr algn="l"/>
            <a:endParaRPr lang="en-US" sz="1600" b="0" i="0" u="none" strike="noStrike" dirty="0">
              <a:solidFill>
                <a:srgbClr val="3C4043"/>
              </a:solidFill>
              <a:effectLst/>
              <a:latin typeface="Inter"/>
              <a:cs typeface="Calibri" panose="020F0502020204030204" pitchFamily="34" charset="0"/>
            </a:endParaRP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B0A73E6A-345D-F88F-5D1E-90622F5FB49B}"/>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descr="A diagram of a house&#10;&#10;Description automatically generated">
            <a:extLst>
              <a:ext uri="{FF2B5EF4-FFF2-40B4-BE49-F238E27FC236}">
                <a16:creationId xmlns:a16="http://schemas.microsoft.com/office/drawing/2014/main" id="{406F47F6-A26D-051B-904F-8FDB4CD192CB}"/>
              </a:ext>
            </a:extLst>
          </p:cNvPr>
          <p:cNvPicPr>
            <a:picLocks noChangeAspect="1"/>
          </p:cNvPicPr>
          <p:nvPr/>
        </p:nvPicPr>
        <p:blipFill>
          <a:blip r:embed="rId3"/>
          <a:srcRect l="7218" t="15049" r="10019" b="23258"/>
          <a:stretch/>
        </p:blipFill>
        <p:spPr>
          <a:xfrm>
            <a:off x="6170428" y="2052469"/>
            <a:ext cx="5442524" cy="3341255"/>
          </a:xfrm>
          <a:prstGeom prst="rect">
            <a:avLst/>
          </a:prstGeom>
        </p:spPr>
      </p:pic>
      <p:sp>
        <p:nvSpPr>
          <p:cNvPr id="7" name="Curved Down Arrow 6">
            <a:extLst>
              <a:ext uri="{FF2B5EF4-FFF2-40B4-BE49-F238E27FC236}">
                <a16:creationId xmlns:a16="http://schemas.microsoft.com/office/drawing/2014/main" id="{817676E7-90A0-A4F6-3581-103CA8DAE12A}"/>
              </a:ext>
            </a:extLst>
          </p:cNvPr>
          <p:cNvSpPr/>
          <p:nvPr/>
        </p:nvSpPr>
        <p:spPr>
          <a:xfrm rot="1808783">
            <a:off x="7719143" y="1379130"/>
            <a:ext cx="854829" cy="371282"/>
          </a:xfrm>
          <a:prstGeom prst="curved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07994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FC57-9C5D-BEDE-52DF-5A8F820D6BBC}"/>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72FCA0BA-E66A-6CF9-3300-02555C4BDA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3C16DFCE-5896-F46B-AA59-8FEDC65B5899}"/>
              </a:ext>
            </a:extLst>
          </p:cNvPr>
          <p:cNvSpPr>
            <a:spLocks noGrp="1"/>
          </p:cNvSpPr>
          <p:nvPr>
            <p:ph type="ctrTitle"/>
          </p:nvPr>
        </p:nvSpPr>
        <p:spPr>
          <a:xfrm>
            <a:off x="0" y="92037"/>
            <a:ext cx="2955851" cy="492753"/>
          </a:xfrm>
        </p:spPr>
        <p:txBody>
          <a:bodyPr>
            <a:normAutofit fontScale="90000"/>
          </a:bodyPr>
          <a:lstStyle/>
          <a:p>
            <a:r>
              <a:rPr lang="en-US" sz="2400" b="1" u="sng" dirty="0">
                <a:solidFill>
                  <a:schemeClr val="accent6">
                    <a:lumMod val="75000"/>
                  </a:schemeClr>
                </a:solidFill>
              </a:rPr>
              <a:t>Basic Data Exploration</a:t>
            </a:r>
          </a:p>
        </p:txBody>
      </p:sp>
      <p:sp>
        <p:nvSpPr>
          <p:cNvPr id="9" name="TextBox 8">
            <a:extLst>
              <a:ext uri="{FF2B5EF4-FFF2-40B4-BE49-F238E27FC236}">
                <a16:creationId xmlns:a16="http://schemas.microsoft.com/office/drawing/2014/main" id="{B8479C53-3448-ED16-B930-B9ED25D5A345}"/>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descr="A screenshot of a computer&#10;&#10;Description automatically generated">
            <a:extLst>
              <a:ext uri="{FF2B5EF4-FFF2-40B4-BE49-F238E27FC236}">
                <a16:creationId xmlns:a16="http://schemas.microsoft.com/office/drawing/2014/main" id="{B8B82C70-05CC-A6D3-FD56-9AEC754E7400}"/>
              </a:ext>
            </a:extLst>
          </p:cNvPr>
          <p:cNvPicPr>
            <a:picLocks noChangeAspect="1"/>
          </p:cNvPicPr>
          <p:nvPr/>
        </p:nvPicPr>
        <p:blipFill>
          <a:blip r:embed="rId3"/>
          <a:srcRect t="16624" r="2973" b="75625"/>
          <a:stretch/>
        </p:blipFill>
        <p:spPr>
          <a:xfrm>
            <a:off x="200025" y="1619290"/>
            <a:ext cx="7440736" cy="585115"/>
          </a:xfrm>
          <a:prstGeom prst="rect">
            <a:avLst/>
          </a:prstGeom>
        </p:spPr>
      </p:pic>
      <p:sp>
        <p:nvSpPr>
          <p:cNvPr id="11" name="TextBox 10">
            <a:extLst>
              <a:ext uri="{FF2B5EF4-FFF2-40B4-BE49-F238E27FC236}">
                <a16:creationId xmlns:a16="http://schemas.microsoft.com/office/drawing/2014/main" id="{5D8C95A3-8AB1-5849-FEA0-C8565013FCC6}"/>
              </a:ext>
            </a:extLst>
          </p:cNvPr>
          <p:cNvSpPr txBox="1"/>
          <p:nvPr/>
        </p:nvSpPr>
        <p:spPr>
          <a:xfrm>
            <a:off x="200025" y="857385"/>
            <a:ext cx="11761602" cy="338554"/>
          </a:xfrm>
          <a:prstGeom prst="rect">
            <a:avLst/>
          </a:prstGeom>
          <a:noFill/>
        </p:spPr>
        <p:txBody>
          <a:bodyPr wrap="square">
            <a:spAutoFit/>
          </a:bodyPr>
          <a:lstStyle/>
          <a:p>
            <a:r>
              <a:rPr lang="en-US" sz="1600" b="0" i="0" u="none" strike="noStrike" dirty="0">
                <a:effectLst/>
                <a:latin typeface="Calibri" panose="020F0502020204030204" pitchFamily="34" charset="0"/>
                <a:cs typeface="Calibri" panose="020F0502020204030204" pitchFamily="34" charset="0"/>
              </a:rPr>
              <a:t>Pandas is the primary tool data scientists use for exploring and manipulating data. Most people abbreviate pandas in their code as </a:t>
            </a:r>
            <a:r>
              <a:rPr lang="en-US" sz="1600" dirty="0">
                <a:latin typeface="Calibri" panose="020F0502020204030204" pitchFamily="34" charset="0"/>
                <a:cs typeface="Calibri" panose="020F0502020204030204" pitchFamily="34" charset="0"/>
              </a:rPr>
              <a:t>pd</a:t>
            </a:r>
            <a:r>
              <a:rPr lang="en-US" sz="1600" b="0" i="0" u="none" strike="noStrike" dirty="0">
                <a:effectLst/>
                <a:latin typeface="Calibri" panose="020F0502020204030204" pitchFamily="34" charset="0"/>
                <a:cs typeface="Calibri" panose="020F0502020204030204" pitchFamily="34" charset="0"/>
              </a:rPr>
              <a:t>.</a:t>
            </a:r>
            <a:endParaRPr lang="en-US" sz="1600" dirty="0">
              <a:latin typeface="Calibri" panose="020F0502020204030204" pitchFamily="34" charset="0"/>
              <a:cs typeface="Calibri" panose="020F0502020204030204" pitchFamily="34" charset="0"/>
            </a:endParaRPr>
          </a:p>
        </p:txBody>
      </p:sp>
      <p:pic>
        <p:nvPicPr>
          <p:cNvPr id="13" name="Picture 12" descr="A screenshot of a computer&#10;&#10;Description automatically generated">
            <a:extLst>
              <a:ext uri="{FF2B5EF4-FFF2-40B4-BE49-F238E27FC236}">
                <a16:creationId xmlns:a16="http://schemas.microsoft.com/office/drawing/2014/main" id="{97F5B050-7E44-D6AF-A657-E04A537CC1F6}"/>
              </a:ext>
            </a:extLst>
          </p:cNvPr>
          <p:cNvPicPr>
            <a:picLocks noChangeAspect="1"/>
          </p:cNvPicPr>
          <p:nvPr/>
        </p:nvPicPr>
        <p:blipFill>
          <a:blip r:embed="rId4"/>
          <a:stretch>
            <a:fillRect/>
          </a:stretch>
        </p:blipFill>
        <p:spPr>
          <a:xfrm>
            <a:off x="142960" y="2443763"/>
            <a:ext cx="7497801" cy="3679636"/>
          </a:xfrm>
          <a:prstGeom prst="rect">
            <a:avLst/>
          </a:prstGeom>
        </p:spPr>
      </p:pic>
      <p:sp>
        <p:nvSpPr>
          <p:cNvPr id="14" name="TextBox 13">
            <a:extLst>
              <a:ext uri="{FF2B5EF4-FFF2-40B4-BE49-F238E27FC236}">
                <a16:creationId xmlns:a16="http://schemas.microsoft.com/office/drawing/2014/main" id="{73BC2AD5-D418-0DBD-1953-02392821FED9}"/>
              </a:ext>
            </a:extLst>
          </p:cNvPr>
          <p:cNvSpPr txBox="1"/>
          <p:nvPr/>
        </p:nvSpPr>
        <p:spPr>
          <a:xfrm>
            <a:off x="7825563" y="1318022"/>
            <a:ext cx="5280837" cy="5539978"/>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.describe() is a function form Pandas</a:t>
            </a:r>
          </a:p>
          <a:p>
            <a:endParaRPr lang="en-US" sz="1600" b="1"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sz="1600" dirty="0">
                <a:latin typeface="Calibri" panose="020F0502020204030204" pitchFamily="34" charset="0"/>
                <a:cs typeface="Calibri" panose="020F0502020204030204" pitchFamily="34" charset="0"/>
              </a:rPr>
              <a:t> Generates automatic statistical summaries</a:t>
            </a:r>
          </a:p>
          <a:p>
            <a:pPr>
              <a:buFont typeface="Arial" panose="020B0604020202020204" pitchFamily="34" charset="0"/>
              <a:buChar char="•"/>
            </a:pPr>
            <a:r>
              <a:rPr lang="en-US" sz="1600" dirty="0">
                <a:latin typeface="Calibri" panose="020F0502020204030204" pitchFamily="34" charset="0"/>
                <a:cs typeface="Calibri" panose="020F0502020204030204" pitchFamily="34" charset="0"/>
              </a:rPr>
              <a:t> Works on numerical columns by default</a:t>
            </a:r>
          </a:p>
          <a:p>
            <a:pPr>
              <a:buFont typeface="Arial" panose="020B0604020202020204" pitchFamily="34" charset="0"/>
              <a:buChar char="•"/>
            </a:pPr>
            <a:r>
              <a:rPr lang="en-US" sz="1600" dirty="0">
                <a:latin typeface="Calibri" panose="020F0502020204030204" pitchFamily="34" charset="0"/>
                <a:cs typeface="Calibri" panose="020F0502020204030204" pitchFamily="34" charset="0"/>
              </a:rPr>
              <a:t> Gives you a quick overview of your data</a:t>
            </a:r>
          </a:p>
          <a:p>
            <a:endParaRPr lang="en-US" sz="1600" dirty="0">
              <a:latin typeface="Calibri" panose="020F0502020204030204" pitchFamily="34" charset="0"/>
              <a:cs typeface="Calibri" panose="020F0502020204030204" pitchFamily="34" charset="0"/>
            </a:endParaRPr>
          </a:p>
          <a:p>
            <a:r>
              <a:rPr lang="en-US" sz="1600" b="1" dirty="0">
                <a:latin typeface="Calibri" panose="020F0502020204030204" pitchFamily="34" charset="0"/>
                <a:cs typeface="Calibri" panose="020F0502020204030204" pitchFamily="34" charset="0"/>
              </a:rPr>
              <a:t>Key Statistics It Shows</a:t>
            </a:r>
          </a:p>
          <a:p>
            <a:r>
              <a:rPr lang="en-US" sz="1600" dirty="0">
                <a:latin typeface="Calibri" panose="020F0502020204030204" pitchFamily="34" charset="0"/>
                <a:cs typeface="Calibri" panose="020F0502020204030204" pitchFamily="34" charset="0"/>
              </a:rPr>
              <a:t>count: Number of non-missing values</a:t>
            </a:r>
          </a:p>
          <a:p>
            <a:r>
              <a:rPr lang="en-US" sz="1600" dirty="0">
                <a:latin typeface="Calibri" panose="020F0502020204030204" pitchFamily="34" charset="0"/>
                <a:cs typeface="Calibri" panose="020F0502020204030204" pitchFamily="34" charset="0"/>
              </a:rPr>
              <a:t>mean: Average value</a:t>
            </a:r>
          </a:p>
          <a:p>
            <a:r>
              <a:rPr lang="en-US" sz="1600" dirty="0">
                <a:latin typeface="Calibri" panose="020F0502020204030204" pitchFamily="34" charset="0"/>
                <a:cs typeface="Calibri" panose="020F0502020204030204" pitchFamily="34" charset="0"/>
              </a:rPr>
              <a:t>std: Standard deviation</a:t>
            </a:r>
          </a:p>
          <a:p>
            <a:r>
              <a:rPr lang="en-US" sz="1600" dirty="0">
                <a:latin typeface="Calibri" panose="020F0502020204030204" pitchFamily="34" charset="0"/>
                <a:cs typeface="Calibri" panose="020F0502020204030204" pitchFamily="34" charset="0"/>
              </a:rPr>
              <a:t>min: Minimum value</a:t>
            </a:r>
          </a:p>
          <a:p>
            <a:r>
              <a:rPr lang="en-US" sz="1600" dirty="0">
                <a:latin typeface="Calibri" panose="020F0502020204030204" pitchFamily="34" charset="0"/>
                <a:cs typeface="Calibri" panose="020F0502020204030204" pitchFamily="34" charset="0"/>
              </a:rPr>
              <a:t>25%: First quartile</a:t>
            </a:r>
          </a:p>
          <a:p>
            <a:r>
              <a:rPr lang="en-US" sz="1600" dirty="0">
                <a:latin typeface="Calibri" panose="020F0502020204030204" pitchFamily="34" charset="0"/>
                <a:cs typeface="Calibri" panose="020F0502020204030204" pitchFamily="34" charset="0"/>
              </a:rPr>
              <a:t>50%: Median</a:t>
            </a:r>
          </a:p>
          <a:p>
            <a:r>
              <a:rPr lang="en-US" sz="1600" dirty="0">
                <a:latin typeface="Calibri" panose="020F0502020204030204" pitchFamily="34" charset="0"/>
                <a:cs typeface="Calibri" panose="020F0502020204030204" pitchFamily="34" charset="0"/>
              </a:rPr>
              <a:t>75%: Third quartile</a:t>
            </a:r>
          </a:p>
          <a:p>
            <a:r>
              <a:rPr lang="en-US" sz="1600" dirty="0">
                <a:latin typeface="Calibri" panose="020F0502020204030204" pitchFamily="34" charset="0"/>
                <a:cs typeface="Calibri" panose="020F0502020204030204" pitchFamily="34" charset="0"/>
              </a:rPr>
              <a:t>max: Maximum value</a:t>
            </a:r>
          </a:p>
          <a:p>
            <a:endParaRPr lang="en-US" sz="1600" b="1" dirty="0">
              <a:latin typeface="Calibri" panose="020F0502020204030204" pitchFamily="34" charset="0"/>
              <a:cs typeface="Calibri" panose="020F0502020204030204" pitchFamily="34" charset="0"/>
            </a:endParaRPr>
          </a:p>
          <a:p>
            <a:pPr algn="l"/>
            <a:r>
              <a:rPr lang="en-US" sz="1600" b="1" i="0" u="none" strike="noStrike" dirty="0">
                <a:solidFill>
                  <a:srgbClr val="000000"/>
                </a:solidFill>
                <a:effectLst/>
                <a:latin typeface="Calibri" panose="020F0502020204030204" pitchFamily="34" charset="0"/>
                <a:cs typeface="Calibri" panose="020F0502020204030204" pitchFamily="34" charset="0"/>
              </a:rPr>
              <a:t>Common Use Cases</a:t>
            </a:r>
            <a:r>
              <a:rPr lang="en-US" sz="1600" b="0" i="0" u="none" strike="noStrike" dirty="0">
                <a:solidFill>
                  <a:srgbClr val="000000"/>
                </a:solidFill>
                <a:effectLst/>
                <a:latin typeface="Calibri" panose="020F0502020204030204" pitchFamily="34" charset="0"/>
                <a:cs typeface="Calibri" panose="020F0502020204030204" pitchFamily="34" charset="0"/>
              </a:rPr>
              <a:t>:</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Quick data exploration</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Checking data quality</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Finding outliers</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Understanding data distribution</a:t>
            </a:r>
          </a:p>
          <a:p>
            <a:endParaRPr lang="en-US" b="1" dirty="0"/>
          </a:p>
        </p:txBody>
      </p:sp>
    </p:spTree>
    <p:extLst>
      <p:ext uri="{BB962C8B-B14F-4D97-AF65-F5344CB8AC3E}">
        <p14:creationId xmlns:p14="http://schemas.microsoft.com/office/powerpoint/2010/main" val="2961392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C709-420E-A0CD-D045-889C25AAE998}"/>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9A6D4538-CF6D-32AB-1DFB-392A7981B9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1CA8837-6B6B-4AC2-53F4-A31B0292C711}"/>
              </a:ext>
            </a:extLst>
          </p:cNvPr>
          <p:cNvSpPr>
            <a:spLocks noGrp="1"/>
          </p:cNvSpPr>
          <p:nvPr>
            <p:ph type="ctrTitle"/>
          </p:nvPr>
        </p:nvSpPr>
        <p:spPr>
          <a:xfrm>
            <a:off x="0" y="92037"/>
            <a:ext cx="3859619" cy="492753"/>
          </a:xfrm>
        </p:spPr>
        <p:txBody>
          <a:bodyPr>
            <a:normAutofit/>
          </a:bodyPr>
          <a:lstStyle/>
          <a:p>
            <a:r>
              <a:rPr lang="en-US" sz="2000" b="1" u="sng" dirty="0">
                <a:solidFill>
                  <a:schemeClr val="accent6">
                    <a:lumMod val="75000"/>
                  </a:schemeClr>
                </a:solidFill>
              </a:rPr>
              <a:t>First Machine Learning Model</a:t>
            </a:r>
            <a:endParaRPr lang="en-US" sz="2000" b="1" dirty="0"/>
          </a:p>
        </p:txBody>
      </p:sp>
      <p:sp>
        <p:nvSpPr>
          <p:cNvPr id="8" name="TextBox 7">
            <a:extLst>
              <a:ext uri="{FF2B5EF4-FFF2-40B4-BE49-F238E27FC236}">
                <a16:creationId xmlns:a16="http://schemas.microsoft.com/office/drawing/2014/main" id="{7EFA1D1C-A1CF-802A-DA8C-2593F32E9932}"/>
              </a:ext>
            </a:extLst>
          </p:cNvPr>
          <p:cNvSpPr txBox="1"/>
          <p:nvPr/>
        </p:nvSpPr>
        <p:spPr>
          <a:xfrm>
            <a:off x="400493" y="3226533"/>
            <a:ext cx="11561134" cy="3785652"/>
          </a:xfrm>
          <a:prstGeom prst="rect">
            <a:avLst/>
          </a:prstGeom>
          <a:noFill/>
        </p:spPr>
        <p:txBody>
          <a:bodyPr wrap="square">
            <a:spAutoFit/>
          </a:bodyPr>
          <a:lstStyle/>
          <a:p>
            <a:pPr algn="l"/>
            <a:r>
              <a:rPr lang="en-US" sz="1600" b="0" i="0" u="none" strike="noStrike" dirty="0">
                <a:solidFill>
                  <a:srgbClr val="000000"/>
                </a:solidFill>
                <a:effectLst/>
                <a:latin typeface="Calibri" panose="020F0502020204030204" pitchFamily="34" charset="0"/>
                <a:cs typeface="Calibri" panose="020F0502020204030204" pitchFamily="34" charset="0"/>
              </a:rPr>
              <a:t>This shows you all the possible things you can look at (like number of rooms, price, location, etc.)</a:t>
            </a:r>
          </a:p>
          <a:p>
            <a:pPr algn="l"/>
            <a:r>
              <a:rPr lang="en-US" sz="1600" b="1" i="0" u="none" strike="noStrike" dirty="0">
                <a:solidFill>
                  <a:srgbClr val="000000"/>
                </a:solidFill>
                <a:effectLst/>
                <a:latin typeface="Calibri" panose="020F0502020204030204" pitchFamily="34" charset="0"/>
                <a:cs typeface="Calibri" panose="020F0502020204030204" pitchFamily="34" charset="0"/>
              </a:rPr>
              <a:t>Start Small</a:t>
            </a:r>
            <a:r>
              <a:rPr lang="en-US" sz="1600" b="0" i="0" u="none" strike="noStrike" dirty="0">
                <a:solidFill>
                  <a:srgbClr val="000000"/>
                </a:solidFill>
                <a:effectLst/>
                <a:latin typeface="Calibri" panose="020F0502020204030204" pitchFamily="34" charset="0"/>
                <a:cs typeface="Calibri" panose="020F0502020204030204" pitchFamily="34" charset="0"/>
              </a:rPr>
              <a:t>:</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Pick just a few important things to look at first</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Use common sense - like picking room count to predict house prices, or the year it’s built in etc.</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Don't try to use everything at once</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1" i="0" u="none" strike="noStrike" dirty="0">
                <a:solidFill>
                  <a:srgbClr val="000000"/>
                </a:solidFill>
                <a:effectLst/>
                <a:latin typeface="Calibri" panose="020F0502020204030204" pitchFamily="34" charset="0"/>
                <a:cs typeface="Calibri" panose="020F0502020204030204" pitchFamily="34" charset="0"/>
              </a:rPr>
              <a:t>Keep It Simple</a:t>
            </a:r>
            <a:r>
              <a:rPr lang="en-US" sz="1600" b="0" i="0" u="none" strike="noStrike" dirty="0">
                <a:solidFill>
                  <a:srgbClr val="000000"/>
                </a:solidFill>
                <a:effectLst/>
                <a:latin typeface="Calibri" panose="020F0502020204030204" pitchFamily="34" charset="0"/>
                <a:cs typeface="Calibri" panose="020F0502020204030204" pitchFamily="34" charset="0"/>
              </a:rPr>
              <a:t>: Instead of looking at 20+ different things about each house, maybe start with just 3-4 that you think matter most, like:</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Number of rooms</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Location</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Size of the house</a:t>
            </a:r>
          </a:p>
          <a:p>
            <a:pPr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Number of bathrooms</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Think of it like this: If you were buying a house, what are the first 3-4 things you'd want to know? Start with those!</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0" i="0" u="none" strike="noStrike" dirty="0">
                <a:solidFill>
                  <a:srgbClr val="000000"/>
                </a:solidFill>
                <a:effectLst/>
                <a:latin typeface="Calibri" panose="020F0502020204030204" pitchFamily="34" charset="0"/>
                <a:cs typeface="Calibri" panose="020F0502020204030204" pitchFamily="34" charset="0"/>
              </a:rPr>
              <a:t>Later on, you'll learn fancy mathematical ways to pick the best features, but starting with your intuition is often a good first step.</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0EF1193-E532-775B-ACB0-380722341EB5}"/>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4" name="Picture 3" descr="A screenshot of a computer&#10;&#10;Description automatically generated">
            <a:extLst>
              <a:ext uri="{FF2B5EF4-FFF2-40B4-BE49-F238E27FC236}">
                <a16:creationId xmlns:a16="http://schemas.microsoft.com/office/drawing/2014/main" id="{5AE22256-D0EE-921B-B39F-25D28F7A5F3B}"/>
              </a:ext>
            </a:extLst>
          </p:cNvPr>
          <p:cNvPicPr>
            <a:picLocks noChangeAspect="1"/>
          </p:cNvPicPr>
          <p:nvPr/>
        </p:nvPicPr>
        <p:blipFill>
          <a:blip r:embed="rId3"/>
          <a:srcRect l="1953" t="24651" r="2168" b="46503"/>
          <a:stretch/>
        </p:blipFill>
        <p:spPr>
          <a:xfrm>
            <a:off x="3264195" y="1094779"/>
            <a:ext cx="6220047" cy="2132691"/>
          </a:xfrm>
          <a:prstGeom prst="rect">
            <a:avLst/>
          </a:prstGeom>
        </p:spPr>
      </p:pic>
      <p:sp>
        <p:nvSpPr>
          <p:cNvPr id="5" name="TextBox 4">
            <a:extLst>
              <a:ext uri="{FF2B5EF4-FFF2-40B4-BE49-F238E27FC236}">
                <a16:creationId xmlns:a16="http://schemas.microsoft.com/office/drawing/2014/main" id="{494993FC-9ED5-F806-AA96-B71E4E1885D6}"/>
              </a:ext>
            </a:extLst>
          </p:cNvPr>
          <p:cNvSpPr txBox="1"/>
          <p:nvPr/>
        </p:nvSpPr>
        <p:spPr>
          <a:xfrm>
            <a:off x="230372" y="726868"/>
            <a:ext cx="11561135" cy="646331"/>
          </a:xfrm>
          <a:prstGeom prst="rect">
            <a:avLst/>
          </a:prstGeom>
          <a:noFill/>
        </p:spPr>
        <p:txBody>
          <a:bodyPr wrap="square" rtlCol="0">
            <a:spAutoFit/>
          </a:bodyPr>
          <a:lstStyle/>
          <a:p>
            <a:r>
              <a:rPr lang="en-US" sz="1800" b="0" i="0" u="none" strike="noStrike" dirty="0">
                <a:solidFill>
                  <a:srgbClr val="000000"/>
                </a:solidFill>
                <a:effectLst/>
                <a:latin typeface="Calibri" panose="020F0502020204030204" pitchFamily="34" charset="0"/>
                <a:cs typeface="Calibri" panose="020F0502020204030204" pitchFamily="34" charset="0"/>
              </a:rPr>
              <a:t>We will start by </a:t>
            </a:r>
            <a:r>
              <a:rPr lang="en-US" sz="1800" b="1" i="0" u="none" strike="noStrike" dirty="0">
                <a:solidFill>
                  <a:srgbClr val="000000"/>
                </a:solidFill>
                <a:effectLst/>
                <a:latin typeface="Calibri" panose="020F0502020204030204" pitchFamily="34" charset="0"/>
                <a:cs typeface="Calibri" panose="020F0502020204030204" pitchFamily="34" charset="0"/>
              </a:rPr>
              <a:t>selecting data for modeling</a:t>
            </a:r>
            <a:r>
              <a:rPr lang="en-US" sz="1800" b="0" i="0" u="none" strike="noStrike" dirty="0">
                <a:solidFill>
                  <a:srgbClr val="000000"/>
                </a:solidFill>
                <a:effectLst/>
                <a:latin typeface="Calibri" panose="020F0502020204030204" pitchFamily="34" charset="0"/>
                <a:cs typeface="Calibri" panose="020F0502020204030204" pitchFamily="34" charset="0"/>
              </a:rPr>
              <a:t>. When you have a dataset that's too big and confusing, you need a way to make it simpler. </a:t>
            </a:r>
            <a:endParaRPr lang="en-US" dirty="0"/>
          </a:p>
        </p:txBody>
      </p:sp>
    </p:spTree>
    <p:extLst>
      <p:ext uri="{BB962C8B-B14F-4D97-AF65-F5344CB8AC3E}">
        <p14:creationId xmlns:p14="http://schemas.microsoft.com/office/powerpoint/2010/main" val="3299744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8A234-3AA2-F91C-BD3C-32D637717B14}"/>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701FE62E-FDBC-3B6D-AFC2-E8BCBB7178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683DF01C-1ABD-BDDF-4792-9A21D93F9FC1}"/>
              </a:ext>
            </a:extLst>
          </p:cNvPr>
          <p:cNvSpPr>
            <a:spLocks noGrp="1"/>
          </p:cNvSpPr>
          <p:nvPr>
            <p:ph type="ctrTitle"/>
          </p:nvPr>
        </p:nvSpPr>
        <p:spPr>
          <a:xfrm>
            <a:off x="0" y="92037"/>
            <a:ext cx="3572540" cy="492753"/>
          </a:xfrm>
        </p:spPr>
        <p:txBody>
          <a:bodyPr>
            <a:noAutofit/>
          </a:bodyPr>
          <a:lstStyle/>
          <a:p>
            <a:r>
              <a:rPr lang="en-US" sz="2000" b="1" i="0" u="none" strike="noStrike" dirty="0">
                <a:solidFill>
                  <a:srgbClr val="000000"/>
                </a:solidFill>
                <a:effectLst/>
                <a:latin typeface="-webkit-standard"/>
              </a:rPr>
              <a:t>Handling Missing Values 🧹</a:t>
            </a:r>
            <a:endParaRPr lang="en-US" sz="2000" b="1" dirty="0"/>
          </a:p>
        </p:txBody>
      </p:sp>
      <p:sp>
        <p:nvSpPr>
          <p:cNvPr id="8" name="TextBox 7">
            <a:extLst>
              <a:ext uri="{FF2B5EF4-FFF2-40B4-BE49-F238E27FC236}">
                <a16:creationId xmlns:a16="http://schemas.microsoft.com/office/drawing/2014/main" id="{F831F10B-96CC-F93B-1B14-0DE42E74E745}"/>
              </a:ext>
            </a:extLst>
          </p:cNvPr>
          <p:cNvSpPr txBox="1"/>
          <p:nvPr/>
        </p:nvSpPr>
        <p:spPr>
          <a:xfrm>
            <a:off x="230372" y="801469"/>
            <a:ext cx="11731256" cy="338554"/>
          </a:xfrm>
          <a:prstGeom prst="rect">
            <a:avLst/>
          </a:prstGeom>
          <a:noFill/>
        </p:spPr>
        <p:txBody>
          <a:bodyPr wrap="square">
            <a:spAutoFit/>
          </a:bodyPr>
          <a:lstStyle/>
          <a:p>
            <a:pPr algn="l"/>
            <a:r>
              <a:rPr lang="en-US" sz="1600" b="0" i="0" u="none" strike="noStrike" dirty="0">
                <a:solidFill>
                  <a:srgbClr val="000000"/>
                </a:solidFill>
                <a:effectLst/>
                <a:latin typeface="-webkit-standard"/>
              </a:rPr>
              <a:t>The code uses </a:t>
            </a:r>
            <a:r>
              <a:rPr lang="en-US" sz="1600" dirty="0" err="1"/>
              <a:t>dropna</a:t>
            </a:r>
            <a:r>
              <a:rPr lang="en-US" sz="1600" dirty="0"/>
              <a:t>()</a:t>
            </a:r>
            <a:r>
              <a:rPr lang="en-US" sz="1600" b="0" i="0" u="none" strike="noStrike" dirty="0">
                <a:solidFill>
                  <a:srgbClr val="000000"/>
                </a:solidFill>
                <a:effectLst/>
                <a:latin typeface="-webkit-standard"/>
              </a:rPr>
              <a:t> to handle missing values: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85AF208-24BD-D747-BA30-8898F1A54894}"/>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5" name="Picture 4" descr="A screenshot of a computer code&#10;&#10;Description automatically generated">
            <a:extLst>
              <a:ext uri="{FF2B5EF4-FFF2-40B4-BE49-F238E27FC236}">
                <a16:creationId xmlns:a16="http://schemas.microsoft.com/office/drawing/2014/main" id="{88526F30-C9D1-549D-3674-DECE5231180B}"/>
              </a:ext>
            </a:extLst>
          </p:cNvPr>
          <p:cNvPicPr>
            <a:picLocks noChangeAspect="1"/>
          </p:cNvPicPr>
          <p:nvPr/>
        </p:nvPicPr>
        <p:blipFill>
          <a:blip r:embed="rId3"/>
          <a:stretch>
            <a:fillRect/>
          </a:stretch>
        </p:blipFill>
        <p:spPr>
          <a:xfrm>
            <a:off x="230372" y="1210891"/>
            <a:ext cx="7772400" cy="2218109"/>
          </a:xfrm>
          <a:prstGeom prst="rect">
            <a:avLst/>
          </a:prstGeom>
        </p:spPr>
      </p:pic>
      <p:sp>
        <p:nvSpPr>
          <p:cNvPr id="10" name="TextBox 9">
            <a:extLst>
              <a:ext uri="{FF2B5EF4-FFF2-40B4-BE49-F238E27FC236}">
                <a16:creationId xmlns:a16="http://schemas.microsoft.com/office/drawing/2014/main" id="{5985C510-FE91-893B-7573-F95FA405CF82}"/>
              </a:ext>
            </a:extLst>
          </p:cNvPr>
          <p:cNvSpPr txBox="1"/>
          <p:nvPr/>
        </p:nvSpPr>
        <p:spPr>
          <a:xfrm>
            <a:off x="432862" y="3761898"/>
            <a:ext cx="8725426" cy="1477328"/>
          </a:xfrm>
          <a:prstGeom prst="rect">
            <a:avLst/>
          </a:prstGeom>
          <a:noFill/>
        </p:spPr>
        <p:txBody>
          <a:bodyPr wrap="square">
            <a:spAutoFit/>
          </a:bodyPr>
          <a:lstStyle/>
          <a:p>
            <a:pPr algn="l"/>
            <a:r>
              <a:rPr lang="en-US" b="1" i="0" u="none" strike="noStrike" dirty="0">
                <a:solidFill>
                  <a:srgbClr val="000000"/>
                </a:solidFill>
                <a:effectLst/>
              </a:rPr>
              <a:t>Key points about </a:t>
            </a:r>
            <a:r>
              <a:rPr lang="en-US" b="1" i="0" u="none" strike="noStrike" dirty="0" err="1">
                <a:solidFill>
                  <a:srgbClr val="000000"/>
                </a:solidFill>
                <a:effectLst/>
              </a:rPr>
              <a:t>dropna</a:t>
            </a:r>
            <a:r>
              <a:rPr lang="en-US" b="1" i="0" u="none" strike="noStrike" dirty="0">
                <a:solidFill>
                  <a:srgbClr val="000000"/>
                </a:solidFill>
                <a:effectLst/>
              </a:rPr>
              <a:t>():</a:t>
            </a:r>
          </a:p>
          <a:p>
            <a:pPr algn="l"/>
            <a:endParaRPr lang="en-US" b="0" i="0" u="none" strike="noStrike" dirty="0">
              <a:solidFill>
                <a:srgbClr val="000000"/>
              </a:solidFill>
              <a:effectLst/>
            </a:endParaRPr>
          </a:p>
          <a:p>
            <a:pPr algn="l"/>
            <a:r>
              <a:rPr lang="en-US" b="0" i="0" u="none" strike="noStrike" dirty="0">
                <a:solidFill>
                  <a:srgbClr val="000000"/>
                </a:solidFill>
                <a:effectLst/>
              </a:rPr>
              <a:t>axis=0 means drop rows with any missing values</a:t>
            </a:r>
          </a:p>
          <a:p>
            <a:pPr algn="l"/>
            <a:r>
              <a:rPr lang="en-US" b="0" i="0" u="none" strike="noStrike" dirty="0">
                <a:solidFill>
                  <a:srgbClr val="000000"/>
                </a:solidFill>
                <a:effectLst/>
              </a:rPr>
              <a:t>Think of "</a:t>
            </a:r>
            <a:r>
              <a:rPr lang="en-US" b="0" i="0" u="none" strike="noStrike" dirty="0" err="1">
                <a:solidFill>
                  <a:srgbClr val="000000"/>
                </a:solidFill>
                <a:effectLst/>
              </a:rPr>
              <a:t>na</a:t>
            </a:r>
            <a:r>
              <a:rPr lang="en-US" b="0" i="0" u="none" strike="noStrike" dirty="0">
                <a:solidFill>
                  <a:srgbClr val="000000"/>
                </a:solidFill>
                <a:effectLst/>
              </a:rPr>
              <a:t>" as "not available"</a:t>
            </a:r>
          </a:p>
          <a:p>
            <a:pPr algn="l"/>
            <a:r>
              <a:rPr lang="en-US" b="0" i="0" u="none" strike="noStrike" dirty="0">
                <a:solidFill>
                  <a:srgbClr val="000000"/>
                </a:solidFill>
                <a:effectLst/>
              </a:rPr>
              <a:t>This is the simplest (though not always best) way to handle missing data</a:t>
            </a:r>
          </a:p>
        </p:txBody>
      </p:sp>
    </p:spTree>
    <p:extLst>
      <p:ext uri="{BB962C8B-B14F-4D97-AF65-F5344CB8AC3E}">
        <p14:creationId xmlns:p14="http://schemas.microsoft.com/office/powerpoint/2010/main" val="24952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65BB-C3FD-FD78-6377-0849B9AD3481}"/>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B6010E01-3A64-559C-1E0A-66CB43259A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2F675791-D7FB-5F40-A8A0-910B51B08274}"/>
              </a:ext>
            </a:extLst>
          </p:cNvPr>
          <p:cNvSpPr>
            <a:spLocks noGrp="1"/>
          </p:cNvSpPr>
          <p:nvPr>
            <p:ph type="ctrTitle"/>
          </p:nvPr>
        </p:nvSpPr>
        <p:spPr>
          <a:xfrm>
            <a:off x="-1" y="92037"/>
            <a:ext cx="4086225" cy="492753"/>
          </a:xfrm>
        </p:spPr>
        <p:txBody>
          <a:bodyPr>
            <a:noAutofit/>
          </a:bodyPr>
          <a:lstStyle/>
          <a:p>
            <a:pPr algn="l"/>
            <a:r>
              <a:rPr lang="en-US" sz="1800" b="1" i="0" u="none" strike="noStrike" dirty="0">
                <a:solidFill>
                  <a:srgbClr val="000000"/>
                </a:solidFill>
                <a:effectLst/>
              </a:rPr>
              <a:t>Best Practices for Feature Selection 📝</a:t>
            </a:r>
          </a:p>
        </p:txBody>
      </p:sp>
      <p:sp>
        <p:nvSpPr>
          <p:cNvPr id="8" name="TextBox 7">
            <a:extLst>
              <a:ext uri="{FF2B5EF4-FFF2-40B4-BE49-F238E27FC236}">
                <a16:creationId xmlns:a16="http://schemas.microsoft.com/office/drawing/2014/main" id="{E87CBCBC-1DBE-7C8D-137C-07579BA4976F}"/>
              </a:ext>
            </a:extLst>
          </p:cNvPr>
          <p:cNvSpPr txBox="1"/>
          <p:nvPr/>
        </p:nvSpPr>
        <p:spPr>
          <a:xfrm>
            <a:off x="230372" y="801469"/>
            <a:ext cx="11731256" cy="5601533"/>
          </a:xfrm>
          <a:prstGeom prst="rect">
            <a:avLst/>
          </a:prstGeom>
          <a:noFill/>
        </p:spPr>
        <p:txBody>
          <a:bodyPr wrap="square">
            <a:spAutoFit/>
          </a:bodyPr>
          <a:lstStyle/>
          <a:p>
            <a:pPr algn="l"/>
            <a:r>
              <a:rPr lang="en-US" b="1" i="0" u="none" strike="noStrike" dirty="0">
                <a:solidFill>
                  <a:srgbClr val="000000"/>
                </a:solidFill>
                <a:effectLst/>
              </a:rPr>
              <a:t>Start Simple</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Begin with a few meaningful variables</a:t>
            </a:r>
          </a:p>
          <a:p>
            <a:pPr marL="742950" lvl="1" indent="-285750" algn="l">
              <a:buFont typeface="+mj-lt"/>
              <a:buAutoNum type="arabicPeriod"/>
            </a:pPr>
            <a:r>
              <a:rPr lang="en-US" b="0" i="0" u="none" strike="noStrike" dirty="0">
                <a:solidFill>
                  <a:srgbClr val="000000"/>
                </a:solidFill>
                <a:effectLst/>
              </a:rPr>
              <a:t>Choose features that intuitively affect the target</a:t>
            </a:r>
          </a:p>
          <a:p>
            <a:pPr marL="742950" lvl="1" indent="-285750" algn="l">
              <a:buFont typeface="+mj-lt"/>
              <a:buAutoNum type="arabicPeriod"/>
            </a:pPr>
            <a:r>
              <a:rPr lang="en-US" b="0" i="0" u="none" strike="noStrike" dirty="0">
                <a:solidFill>
                  <a:srgbClr val="000000"/>
                </a:solidFill>
                <a:effectLst/>
              </a:rPr>
              <a:t>Add complexity gradually</a:t>
            </a:r>
          </a:p>
          <a:p>
            <a:pPr lvl="1" algn="l"/>
            <a:endParaRPr lang="en-US" b="0" i="0" u="none" strike="noStrike" dirty="0">
              <a:solidFill>
                <a:srgbClr val="000000"/>
              </a:solidFill>
              <a:effectLst/>
            </a:endParaRPr>
          </a:p>
          <a:p>
            <a:pPr algn="l"/>
            <a:r>
              <a:rPr lang="en-US" b="1" i="0" u="none" strike="noStrike" dirty="0">
                <a:solidFill>
                  <a:srgbClr val="000000"/>
                </a:solidFill>
                <a:effectLst/>
              </a:rPr>
              <a:t>Consider Data Quality</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Check for missing values</a:t>
            </a:r>
          </a:p>
          <a:p>
            <a:pPr marL="742950" lvl="1" indent="-285750" algn="l">
              <a:buFont typeface="+mj-lt"/>
              <a:buAutoNum type="arabicPeriod"/>
            </a:pPr>
            <a:r>
              <a:rPr lang="en-US" b="0" i="0" u="none" strike="noStrike" dirty="0">
                <a:solidFill>
                  <a:srgbClr val="000000"/>
                </a:solidFill>
                <a:effectLst/>
              </a:rPr>
              <a:t>Look at data types</a:t>
            </a:r>
          </a:p>
          <a:p>
            <a:pPr marL="742950" lvl="1" indent="-285750" algn="l">
              <a:buFont typeface="+mj-lt"/>
              <a:buAutoNum type="arabicPeriod"/>
            </a:pPr>
            <a:r>
              <a:rPr lang="en-US" b="0" i="0" u="none" strike="noStrike" dirty="0">
                <a:solidFill>
                  <a:srgbClr val="000000"/>
                </a:solidFill>
                <a:effectLst/>
              </a:rPr>
              <a:t>Consider the reliability of each feature</a:t>
            </a:r>
          </a:p>
          <a:p>
            <a:pPr lvl="1" algn="l"/>
            <a:endParaRPr lang="en-US" b="0" i="0" u="none" strike="noStrike" dirty="0">
              <a:solidFill>
                <a:srgbClr val="000000"/>
              </a:solidFill>
              <a:effectLst/>
            </a:endParaRPr>
          </a:p>
          <a:p>
            <a:pPr algn="l"/>
            <a:r>
              <a:rPr lang="en-US" b="1" i="0" u="none" strike="noStrike" dirty="0">
                <a:solidFill>
                  <a:srgbClr val="000000"/>
                </a:solidFill>
                <a:effectLst/>
              </a:rPr>
              <a:t>Avoid Redundancy</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Don't select multiple columns that represent the same information</a:t>
            </a:r>
          </a:p>
          <a:p>
            <a:pPr marL="742950" lvl="1" indent="-285750" algn="l">
              <a:buFont typeface="+mj-lt"/>
              <a:buAutoNum type="arabicPeriod"/>
            </a:pPr>
            <a:r>
              <a:rPr lang="en-US" b="0" i="0" u="none" strike="noStrike" dirty="0">
                <a:solidFill>
                  <a:srgbClr val="000000"/>
                </a:solidFill>
                <a:effectLst/>
              </a:rPr>
              <a:t>Example: 'Rooms' and 'Bedroom2' might be redundant</a:t>
            </a:r>
          </a:p>
          <a:p>
            <a:pPr lvl="1" algn="l"/>
            <a:endParaRPr lang="en-US" b="0" i="0" u="none" strike="noStrike" dirty="0">
              <a:solidFill>
                <a:srgbClr val="000000"/>
              </a:solidFill>
              <a:effectLst/>
            </a:endParaRPr>
          </a:p>
          <a:p>
            <a:pPr algn="l"/>
            <a:r>
              <a:rPr lang="en-US" b="1" i="0" u="none" strike="noStrike" dirty="0">
                <a:solidFill>
                  <a:srgbClr val="000000"/>
                </a:solidFill>
                <a:effectLst/>
              </a:rPr>
              <a:t>Think About Relevance</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Select features that likely influence your target</a:t>
            </a:r>
          </a:p>
          <a:p>
            <a:pPr marL="742950" lvl="1" indent="-285750" algn="l">
              <a:buFont typeface="+mj-lt"/>
              <a:buAutoNum type="arabicPeriod"/>
            </a:pPr>
            <a:r>
              <a:rPr lang="en-US" b="0" i="0" u="none" strike="noStrike" dirty="0">
                <a:solidFill>
                  <a:srgbClr val="000000"/>
                </a:solidFill>
                <a:effectLst/>
              </a:rPr>
              <a:t>Example for house prices:</a:t>
            </a:r>
          </a:p>
          <a:p>
            <a:pPr marL="1143000" lvl="2" indent="-228600" algn="l">
              <a:buFont typeface="+mj-lt"/>
              <a:buAutoNum type="arabicPeriod"/>
            </a:pPr>
            <a:r>
              <a:rPr lang="en-US" b="0" i="0" u="none" strike="noStrike" dirty="0">
                <a:solidFill>
                  <a:srgbClr val="000000"/>
                </a:solidFill>
                <a:effectLst/>
              </a:rPr>
              <a:t>✅ Rooms, Location, Size</a:t>
            </a:r>
          </a:p>
          <a:p>
            <a:pPr marL="1143000" lvl="2" indent="-228600" algn="l">
              <a:buFont typeface="+mj-lt"/>
              <a:buAutoNum type="arabicPeriod"/>
            </a:pPr>
            <a:r>
              <a:rPr lang="en-US" b="0" i="0" u="none" strike="noStrike" dirty="0">
                <a:solidFill>
                  <a:srgbClr val="000000"/>
                </a:solidFill>
                <a:effectLst/>
              </a:rPr>
              <a:t>❌ House Color, Street Name</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2AC06EE-E9AF-07FC-2119-4733CDA95F89}"/>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spTree>
    <p:extLst>
      <p:ext uri="{BB962C8B-B14F-4D97-AF65-F5344CB8AC3E}">
        <p14:creationId xmlns:p14="http://schemas.microsoft.com/office/powerpoint/2010/main" val="3812376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E3860-660A-61CF-734F-A8859AE55B30}"/>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AABDF78F-0FE5-F549-2A32-AC72C40D4A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4A4C3C49-949F-CB8B-6B59-D89F5B8EF598}"/>
              </a:ext>
            </a:extLst>
          </p:cNvPr>
          <p:cNvSpPr>
            <a:spLocks noGrp="1"/>
          </p:cNvSpPr>
          <p:nvPr>
            <p:ph type="ctrTitle"/>
          </p:nvPr>
        </p:nvSpPr>
        <p:spPr>
          <a:xfrm>
            <a:off x="0" y="92037"/>
            <a:ext cx="2955851" cy="492753"/>
          </a:xfrm>
        </p:spPr>
        <p:txBody>
          <a:bodyPr>
            <a:normAutofit/>
          </a:bodyPr>
          <a:lstStyle/>
          <a:p>
            <a:r>
              <a:rPr lang="en-US" sz="1800" b="1" i="0" u="none" strike="noStrike" dirty="0">
                <a:solidFill>
                  <a:srgbClr val="000000"/>
                </a:solidFill>
                <a:effectLst/>
                <a:latin typeface="-webkit-standard"/>
              </a:rPr>
              <a:t>Building your Model 🤖</a:t>
            </a:r>
            <a:endParaRPr lang="en-US" sz="1800" b="1" dirty="0"/>
          </a:p>
        </p:txBody>
      </p:sp>
      <p:sp>
        <p:nvSpPr>
          <p:cNvPr id="8" name="TextBox 7">
            <a:extLst>
              <a:ext uri="{FF2B5EF4-FFF2-40B4-BE49-F238E27FC236}">
                <a16:creationId xmlns:a16="http://schemas.microsoft.com/office/drawing/2014/main" id="{9577005F-8DA6-2D3E-D899-8E8847819ADC}"/>
              </a:ext>
            </a:extLst>
          </p:cNvPr>
          <p:cNvSpPr txBox="1"/>
          <p:nvPr/>
        </p:nvSpPr>
        <p:spPr>
          <a:xfrm>
            <a:off x="230372" y="571512"/>
            <a:ext cx="11731256" cy="3231654"/>
          </a:xfrm>
          <a:prstGeom prst="rect">
            <a:avLst/>
          </a:prstGeom>
          <a:noFill/>
        </p:spPr>
        <p:txBody>
          <a:bodyPr wrap="square">
            <a:spAutoFit/>
          </a:bodyPr>
          <a:lstStyle/>
          <a:p>
            <a:pPr algn="l"/>
            <a:r>
              <a:rPr lang="en-US" sz="1600" b="0" i="0" u="none" strike="noStrike" dirty="0">
                <a:solidFill>
                  <a:srgbClr val="3C4043"/>
                </a:solidFill>
                <a:effectLst/>
                <a:latin typeface="Inter"/>
              </a:rPr>
              <a:t>You will use the </a:t>
            </a:r>
            <a:r>
              <a:rPr lang="en-US" sz="1600" b="1" i="0" u="none" strike="noStrike" dirty="0">
                <a:solidFill>
                  <a:srgbClr val="3C4043"/>
                </a:solidFill>
                <a:effectLst/>
                <a:latin typeface="Inter"/>
              </a:rPr>
              <a:t>scikit-learn</a:t>
            </a:r>
            <a:r>
              <a:rPr lang="en-US" sz="1600" b="0" i="0" u="none" strike="noStrike" dirty="0">
                <a:solidFill>
                  <a:srgbClr val="3C4043"/>
                </a:solidFill>
                <a:effectLst/>
                <a:latin typeface="Inter"/>
              </a:rPr>
              <a:t> library to create your models. </a:t>
            </a:r>
          </a:p>
          <a:p>
            <a:pPr algn="l"/>
            <a:endParaRPr lang="en-US" sz="1600" dirty="0">
              <a:solidFill>
                <a:srgbClr val="3C4043"/>
              </a:solidFill>
              <a:latin typeface="Inter"/>
              <a:cs typeface="Calibri" panose="020F0502020204030204" pitchFamily="34" charset="0"/>
            </a:endParaRPr>
          </a:p>
          <a:p>
            <a:pPr algn="l" fontAlgn="base">
              <a:spcAft>
                <a:spcPts val="1200"/>
              </a:spcAft>
            </a:pPr>
            <a:r>
              <a:rPr lang="en-US" sz="1600" b="0" i="0" u="none" strike="noStrike" dirty="0">
                <a:solidFill>
                  <a:srgbClr val="3C4043"/>
                </a:solidFill>
                <a:effectLst/>
                <a:latin typeface="Inter"/>
              </a:rPr>
              <a:t>The steps to building and using a model are:</a:t>
            </a:r>
          </a:p>
          <a:p>
            <a:pPr algn="l" fontAlgn="base">
              <a:spcBef>
                <a:spcPts val="1200"/>
              </a:spcBef>
              <a:spcAft>
                <a:spcPts val="300"/>
              </a:spcAft>
              <a:buFont typeface="Arial" panose="020B0604020202020204" pitchFamily="34" charset="0"/>
              <a:buChar char="•"/>
            </a:pPr>
            <a:r>
              <a:rPr lang="en-US" sz="1600" b="1" i="0" u="none" strike="noStrike" dirty="0">
                <a:solidFill>
                  <a:srgbClr val="3C4043"/>
                </a:solidFill>
                <a:effectLst/>
                <a:latin typeface="inherit"/>
              </a:rPr>
              <a:t> Define:</a:t>
            </a:r>
            <a:r>
              <a:rPr lang="en-US" sz="1600" b="0" i="0" u="none" strike="noStrike" dirty="0">
                <a:solidFill>
                  <a:srgbClr val="3C4043"/>
                </a:solidFill>
                <a:effectLst/>
                <a:latin typeface="inherit"/>
              </a:rPr>
              <a:t> What type of model will it be? A decision tree? Some other type of model? Some other parameters of the model type are specified too.</a:t>
            </a:r>
          </a:p>
          <a:p>
            <a:pPr algn="l" fontAlgn="base">
              <a:spcBef>
                <a:spcPts val="1200"/>
              </a:spcBef>
              <a:spcAft>
                <a:spcPts val="300"/>
              </a:spcAft>
              <a:buFont typeface="Arial" panose="020B0604020202020204" pitchFamily="34" charset="0"/>
              <a:buChar char="•"/>
            </a:pPr>
            <a:r>
              <a:rPr lang="en-US" sz="1600" b="1" i="0" u="none" strike="noStrike" dirty="0">
                <a:solidFill>
                  <a:srgbClr val="3C4043"/>
                </a:solidFill>
                <a:effectLst/>
                <a:latin typeface="inherit"/>
              </a:rPr>
              <a:t> Fit:</a:t>
            </a:r>
            <a:r>
              <a:rPr lang="en-US" sz="1600" b="0" i="0" u="none" strike="noStrike" dirty="0">
                <a:solidFill>
                  <a:srgbClr val="3C4043"/>
                </a:solidFill>
                <a:effectLst/>
                <a:latin typeface="inherit"/>
              </a:rPr>
              <a:t> Capture patterns from provided data. This is the heart of modeling. It feed your data in to the model</a:t>
            </a:r>
          </a:p>
          <a:p>
            <a:pPr algn="l" fontAlgn="base">
              <a:spcBef>
                <a:spcPts val="1200"/>
              </a:spcBef>
              <a:spcAft>
                <a:spcPts val="300"/>
              </a:spcAft>
              <a:buFont typeface="Arial" panose="020B0604020202020204" pitchFamily="34" charset="0"/>
              <a:buChar char="•"/>
            </a:pPr>
            <a:r>
              <a:rPr lang="en-US" sz="1600" b="1" i="0" u="none" strike="noStrike" dirty="0">
                <a:solidFill>
                  <a:srgbClr val="3C4043"/>
                </a:solidFill>
                <a:effectLst/>
                <a:latin typeface="inherit"/>
              </a:rPr>
              <a:t> Predict:</a:t>
            </a:r>
            <a:r>
              <a:rPr lang="en-US" sz="1600" b="0" i="0" u="none" strike="noStrike" dirty="0">
                <a:solidFill>
                  <a:srgbClr val="3C4043"/>
                </a:solidFill>
                <a:effectLst/>
                <a:latin typeface="inherit"/>
              </a:rPr>
              <a:t> Just what it sounds like to predict ou</a:t>
            </a:r>
            <a:r>
              <a:rPr lang="en-US" sz="1600" dirty="0">
                <a:solidFill>
                  <a:srgbClr val="3C4043"/>
                </a:solidFill>
                <a:latin typeface="inherit"/>
              </a:rPr>
              <a:t>r values. </a:t>
            </a:r>
            <a:r>
              <a:rPr lang="en-US" sz="1600" b="0" i="0" u="none" strike="noStrike" dirty="0">
                <a:solidFill>
                  <a:srgbClr val="000000"/>
                </a:solidFill>
                <a:effectLst/>
                <a:latin typeface="-webkit-standard"/>
              </a:rPr>
              <a:t>Use trained model on new data</a:t>
            </a:r>
            <a:endParaRPr lang="en-US" sz="1600" b="0" i="0" u="none" strike="noStrike" dirty="0">
              <a:solidFill>
                <a:srgbClr val="3C4043"/>
              </a:solidFill>
              <a:effectLst/>
              <a:latin typeface="inherit"/>
            </a:endParaRPr>
          </a:p>
          <a:p>
            <a:pPr algn="l" fontAlgn="base">
              <a:spcBef>
                <a:spcPts val="1200"/>
              </a:spcBef>
              <a:spcAft>
                <a:spcPts val="300"/>
              </a:spcAft>
              <a:buFont typeface="Arial" panose="020B0604020202020204" pitchFamily="34" charset="0"/>
              <a:buChar char="•"/>
            </a:pPr>
            <a:r>
              <a:rPr lang="en-US" sz="1600" b="1" i="0" u="none" strike="noStrike" dirty="0">
                <a:solidFill>
                  <a:srgbClr val="3C4043"/>
                </a:solidFill>
                <a:effectLst/>
                <a:latin typeface="inherit"/>
              </a:rPr>
              <a:t> Evaluate</a:t>
            </a:r>
            <a:r>
              <a:rPr lang="en-US" sz="1600" b="0" i="0" u="none" strike="noStrike" dirty="0">
                <a:solidFill>
                  <a:srgbClr val="3C4043"/>
                </a:solidFill>
                <a:effectLst/>
                <a:latin typeface="inherit"/>
              </a:rPr>
              <a:t>: Determine how accurate the model's predictions are.</a:t>
            </a:r>
            <a:r>
              <a:rPr lang="en-US" sz="1600" b="0" i="0" u="none" strike="noStrike" dirty="0">
                <a:solidFill>
                  <a:srgbClr val="000000"/>
                </a:solidFill>
                <a:effectLst/>
                <a:latin typeface="-webkit-standard"/>
              </a:rPr>
              <a:t> Compare predictions to actual values</a:t>
            </a:r>
            <a:endParaRPr lang="en-US" sz="1600" b="0" i="0" u="none" strike="noStrike" dirty="0">
              <a:solidFill>
                <a:srgbClr val="3C4043"/>
              </a:solidFill>
              <a:effectLst/>
              <a:latin typeface="inherit"/>
            </a:endParaRP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2FF5694-618A-3631-633F-9330FB199C99}"/>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5" name="Picture 4" descr="A screenshot of a computer program&#10;&#10;Description automatically generated">
            <a:extLst>
              <a:ext uri="{FF2B5EF4-FFF2-40B4-BE49-F238E27FC236}">
                <a16:creationId xmlns:a16="http://schemas.microsoft.com/office/drawing/2014/main" id="{EB604C2E-F849-FC5E-75B6-C4A10FCF6363}"/>
              </a:ext>
            </a:extLst>
          </p:cNvPr>
          <p:cNvPicPr>
            <a:picLocks noChangeAspect="1"/>
          </p:cNvPicPr>
          <p:nvPr/>
        </p:nvPicPr>
        <p:blipFill>
          <a:blip r:embed="rId3"/>
          <a:stretch>
            <a:fillRect/>
          </a:stretch>
        </p:blipFill>
        <p:spPr>
          <a:xfrm>
            <a:off x="155944" y="3666086"/>
            <a:ext cx="7772400" cy="2153652"/>
          </a:xfrm>
          <a:prstGeom prst="rect">
            <a:avLst/>
          </a:prstGeom>
        </p:spPr>
      </p:pic>
      <p:sp>
        <p:nvSpPr>
          <p:cNvPr id="10" name="TextBox 9">
            <a:extLst>
              <a:ext uri="{FF2B5EF4-FFF2-40B4-BE49-F238E27FC236}">
                <a16:creationId xmlns:a16="http://schemas.microsoft.com/office/drawing/2014/main" id="{D9316E33-749B-3A69-2BDB-66D77B7449E6}"/>
              </a:ext>
            </a:extLst>
          </p:cNvPr>
          <p:cNvSpPr txBox="1"/>
          <p:nvPr/>
        </p:nvSpPr>
        <p:spPr>
          <a:xfrm>
            <a:off x="0" y="5819738"/>
            <a:ext cx="12192000" cy="800219"/>
          </a:xfrm>
          <a:prstGeom prst="rect">
            <a:avLst/>
          </a:prstGeom>
          <a:noFill/>
        </p:spPr>
        <p:txBody>
          <a:bodyPr wrap="square">
            <a:spAutoFit/>
          </a:bodyPr>
          <a:lstStyle/>
          <a:p>
            <a:pPr algn="l" fontAlgn="base"/>
            <a:endParaRPr lang="en-US" b="0" i="0" u="none" strike="noStrike" dirty="0">
              <a:solidFill>
                <a:srgbClr val="202124"/>
              </a:solidFill>
              <a:effectLst/>
              <a:latin typeface="inherit"/>
            </a:endParaRPr>
          </a:p>
          <a:p>
            <a:pPr algn="l" fontAlgn="base">
              <a:spcAft>
                <a:spcPts val="900"/>
              </a:spcAft>
            </a:pPr>
            <a:r>
              <a:rPr lang="en-US" sz="1400" b="0" i="0" u="none" strike="noStrike" dirty="0">
                <a:solidFill>
                  <a:srgbClr val="3C4043"/>
                </a:solidFill>
                <a:effectLst/>
                <a:latin typeface="Inter"/>
              </a:rPr>
              <a:t>Many machine learning models allow some randomness in model training. Specifying a number for </a:t>
            </a:r>
            <a:r>
              <a:rPr lang="en-US" sz="1400" b="0" i="0" u="none" strike="noStrike" dirty="0" err="1">
                <a:solidFill>
                  <a:srgbClr val="3C4043"/>
                </a:solidFill>
                <a:effectLst/>
                <a:latin typeface="Inter"/>
              </a:rPr>
              <a:t>random_state</a:t>
            </a:r>
            <a:r>
              <a:rPr lang="en-US" sz="1400" b="0" i="0" u="none" strike="noStrike" dirty="0">
                <a:solidFill>
                  <a:srgbClr val="3C4043"/>
                </a:solidFill>
                <a:effectLst/>
                <a:latin typeface="Inter"/>
              </a:rPr>
              <a:t> ensures you get the same results in each run. This is considered a good practice. You use any number, and model quality won't depend meaningfully on exactly what value you choose.</a:t>
            </a:r>
          </a:p>
        </p:txBody>
      </p:sp>
    </p:spTree>
    <p:extLst>
      <p:ext uri="{BB962C8B-B14F-4D97-AF65-F5344CB8AC3E}">
        <p14:creationId xmlns:p14="http://schemas.microsoft.com/office/powerpoint/2010/main" val="3109602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6F3BC-82D4-DC31-2174-8B419C7A0578}"/>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B700AFEC-CD9D-C320-F046-D689CE5F8A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8FF8CB37-4609-03D1-2300-9F726BF75B6F}"/>
              </a:ext>
            </a:extLst>
          </p:cNvPr>
          <p:cNvSpPr>
            <a:spLocks noGrp="1"/>
          </p:cNvSpPr>
          <p:nvPr>
            <p:ph type="ctrTitle"/>
          </p:nvPr>
        </p:nvSpPr>
        <p:spPr>
          <a:xfrm>
            <a:off x="0" y="92037"/>
            <a:ext cx="2955851" cy="492753"/>
          </a:xfrm>
        </p:spPr>
        <p:txBody>
          <a:bodyPr>
            <a:normAutofit/>
          </a:bodyPr>
          <a:lstStyle/>
          <a:p>
            <a:r>
              <a:rPr lang="en-US" sz="2000" b="1" i="0" u="none" strike="noStrike" dirty="0">
                <a:solidFill>
                  <a:srgbClr val="000000"/>
                </a:solidFill>
                <a:effectLst/>
                <a:latin typeface="-webkit-standard"/>
              </a:rPr>
              <a:t>Building your Model 🤖</a:t>
            </a:r>
            <a:endParaRPr lang="en-US" sz="2000" b="1" dirty="0"/>
          </a:p>
        </p:txBody>
      </p:sp>
      <p:sp>
        <p:nvSpPr>
          <p:cNvPr id="8" name="TextBox 7">
            <a:extLst>
              <a:ext uri="{FF2B5EF4-FFF2-40B4-BE49-F238E27FC236}">
                <a16:creationId xmlns:a16="http://schemas.microsoft.com/office/drawing/2014/main" id="{6E3E891D-A3DC-3B01-7C70-AC5FE196156A}"/>
              </a:ext>
            </a:extLst>
          </p:cNvPr>
          <p:cNvSpPr txBox="1"/>
          <p:nvPr/>
        </p:nvSpPr>
        <p:spPr>
          <a:xfrm>
            <a:off x="230372" y="801469"/>
            <a:ext cx="11731256" cy="338554"/>
          </a:xfrm>
          <a:prstGeom prst="rect">
            <a:avLst/>
          </a:prstGeom>
          <a:noFill/>
        </p:spPr>
        <p:txBody>
          <a:bodyPr wrap="square">
            <a:spAutoFit/>
          </a:bodyPr>
          <a:lstStyle/>
          <a:p>
            <a:pPr algn="l"/>
            <a:r>
              <a:rPr lang="en-US" sz="1600" b="1" i="0" u="none" strike="noStrike" dirty="0">
                <a:solidFill>
                  <a:srgbClr val="000000"/>
                </a:solidFill>
                <a:effectLst/>
                <a:latin typeface="Calibri" panose="020F0502020204030204" pitchFamily="34" charset="0"/>
                <a:cs typeface="Calibri" panose="020F0502020204030204" pitchFamily="34" charset="0"/>
              </a:rPr>
              <a:t>Predict</a:t>
            </a:r>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8D04ED3-EFB4-6ECF-A174-C231F6897DAE}"/>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descr="A screenshot of a computer&#10;&#10;Description automatically generated">
            <a:extLst>
              <a:ext uri="{FF2B5EF4-FFF2-40B4-BE49-F238E27FC236}">
                <a16:creationId xmlns:a16="http://schemas.microsoft.com/office/drawing/2014/main" id="{B889CECA-8F0B-29FA-DFF6-EA835CC7B584}"/>
              </a:ext>
            </a:extLst>
          </p:cNvPr>
          <p:cNvPicPr>
            <a:picLocks noChangeAspect="1"/>
          </p:cNvPicPr>
          <p:nvPr/>
        </p:nvPicPr>
        <p:blipFill>
          <a:blip r:embed="rId3"/>
          <a:stretch>
            <a:fillRect/>
          </a:stretch>
        </p:blipFill>
        <p:spPr>
          <a:xfrm>
            <a:off x="1019986" y="801469"/>
            <a:ext cx="7772400" cy="3147401"/>
          </a:xfrm>
          <a:prstGeom prst="rect">
            <a:avLst/>
          </a:prstGeom>
        </p:spPr>
      </p:pic>
      <p:sp>
        <p:nvSpPr>
          <p:cNvPr id="5" name="TextBox 4">
            <a:extLst>
              <a:ext uri="{FF2B5EF4-FFF2-40B4-BE49-F238E27FC236}">
                <a16:creationId xmlns:a16="http://schemas.microsoft.com/office/drawing/2014/main" id="{A06608C8-0A13-E054-E426-940BA96842E7}"/>
              </a:ext>
            </a:extLst>
          </p:cNvPr>
          <p:cNvSpPr txBox="1"/>
          <p:nvPr/>
        </p:nvSpPr>
        <p:spPr>
          <a:xfrm>
            <a:off x="6616109" y="2384323"/>
            <a:ext cx="6278524" cy="1200329"/>
          </a:xfrm>
          <a:prstGeom prst="rect">
            <a:avLst/>
          </a:prstGeom>
          <a:noFill/>
        </p:spPr>
        <p:txBody>
          <a:bodyPr wrap="square">
            <a:spAutoFit/>
          </a:bodyPr>
          <a:lstStyle/>
          <a:p>
            <a:pPr algn="l"/>
            <a:r>
              <a:rPr lang="en-US" b="0" i="0" u="none" strike="noStrike" dirty="0">
                <a:solidFill>
                  <a:srgbClr val="000000"/>
                </a:solidFill>
                <a:effectLst/>
              </a:rPr>
              <a:t>This means:</a:t>
            </a:r>
          </a:p>
          <a:p>
            <a:pPr algn="l">
              <a:buFont typeface="Arial" panose="020B0604020202020204" pitchFamily="34" charset="0"/>
              <a:buChar char="•"/>
            </a:pPr>
            <a:r>
              <a:rPr lang="en-US" b="0" i="0" u="none" strike="noStrike" dirty="0">
                <a:solidFill>
                  <a:srgbClr val="000000"/>
                </a:solidFill>
                <a:effectLst/>
              </a:rPr>
              <a:t>First house (2 rooms): Predicted price $1,035,000</a:t>
            </a:r>
          </a:p>
          <a:p>
            <a:pPr algn="l">
              <a:buFont typeface="Arial" panose="020B0604020202020204" pitchFamily="34" charset="0"/>
              <a:buChar char="•"/>
            </a:pPr>
            <a:r>
              <a:rPr lang="en-US" b="0" i="0" u="none" strike="noStrike" dirty="0">
                <a:solidFill>
                  <a:srgbClr val="000000"/>
                </a:solidFill>
                <a:effectLst/>
              </a:rPr>
              <a:t>Second house (3 rooms): Predicted price $1,465,000</a:t>
            </a:r>
          </a:p>
          <a:p>
            <a:pPr algn="l">
              <a:buFont typeface="Arial" panose="020B0604020202020204" pitchFamily="34" charset="0"/>
              <a:buChar char="•"/>
            </a:pPr>
            <a:r>
              <a:rPr lang="en-US" b="0" i="0" u="none" strike="noStrike" dirty="0">
                <a:solidFill>
                  <a:srgbClr val="000000"/>
                </a:solidFill>
                <a:effectLst/>
              </a:rPr>
              <a:t>And so on...</a:t>
            </a:r>
          </a:p>
        </p:txBody>
      </p:sp>
      <p:sp>
        <p:nvSpPr>
          <p:cNvPr id="10" name="TextBox 9">
            <a:extLst>
              <a:ext uri="{FF2B5EF4-FFF2-40B4-BE49-F238E27FC236}">
                <a16:creationId xmlns:a16="http://schemas.microsoft.com/office/drawing/2014/main" id="{BD1D9996-29A5-B095-BF80-35034185C68D}"/>
              </a:ext>
            </a:extLst>
          </p:cNvPr>
          <p:cNvSpPr txBox="1"/>
          <p:nvPr/>
        </p:nvSpPr>
        <p:spPr>
          <a:xfrm>
            <a:off x="326065" y="4586781"/>
            <a:ext cx="11635564" cy="646331"/>
          </a:xfrm>
          <a:prstGeom prst="rect">
            <a:avLst/>
          </a:prstGeom>
          <a:noFill/>
        </p:spPr>
        <p:txBody>
          <a:bodyPr wrap="square">
            <a:spAutoFit/>
          </a:bodyPr>
          <a:lstStyle/>
          <a:p>
            <a:r>
              <a:rPr lang="en-US" dirty="0"/>
              <a:t>We train on all data (fit)Then can predict for any houses. Usually predict for new houses. Here we predicted existing ones as example</a:t>
            </a:r>
          </a:p>
        </p:txBody>
      </p:sp>
      <p:sp>
        <p:nvSpPr>
          <p:cNvPr id="12" name="TextBox 11">
            <a:extLst>
              <a:ext uri="{FF2B5EF4-FFF2-40B4-BE49-F238E27FC236}">
                <a16:creationId xmlns:a16="http://schemas.microsoft.com/office/drawing/2014/main" id="{FF6177AD-D83F-1DE1-DB5C-D88D245AC7A4}"/>
              </a:ext>
            </a:extLst>
          </p:cNvPr>
          <p:cNvSpPr txBox="1"/>
          <p:nvPr/>
        </p:nvSpPr>
        <p:spPr>
          <a:xfrm>
            <a:off x="326065" y="5379014"/>
            <a:ext cx="11539870" cy="646331"/>
          </a:xfrm>
          <a:prstGeom prst="rect">
            <a:avLst/>
          </a:prstGeom>
          <a:noFill/>
        </p:spPr>
        <p:txBody>
          <a:bodyPr wrap="square">
            <a:spAutoFit/>
          </a:bodyPr>
          <a:lstStyle/>
          <a:p>
            <a:r>
              <a:rPr lang="en-US" b="0" i="0" u="none" strike="noStrike" dirty="0">
                <a:solidFill>
                  <a:srgbClr val="000000"/>
                </a:solidFill>
                <a:effectLst/>
                <a:latin typeface="-webkit-standard"/>
              </a:rPr>
              <a:t>This is a basic model. Real-world applications might need more sophisticated approaches, but these same four steps (Define, Fit, Predict, Evaluate) apply to all machine learning models! </a:t>
            </a:r>
            <a:endParaRPr lang="en-US" dirty="0"/>
          </a:p>
        </p:txBody>
      </p:sp>
    </p:spTree>
    <p:extLst>
      <p:ext uri="{BB962C8B-B14F-4D97-AF65-F5344CB8AC3E}">
        <p14:creationId xmlns:p14="http://schemas.microsoft.com/office/powerpoint/2010/main" val="112979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0B0A-3914-94ED-C213-A6309FDE1F4B}"/>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0C17C0D8-D703-3D79-5861-FCACE42F85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426B4C42-C0F7-C81B-48DF-461C66D97CFA}"/>
              </a:ext>
            </a:extLst>
          </p:cNvPr>
          <p:cNvSpPr>
            <a:spLocks noGrp="1"/>
          </p:cNvSpPr>
          <p:nvPr>
            <p:ph type="ctrTitle"/>
          </p:nvPr>
        </p:nvSpPr>
        <p:spPr>
          <a:xfrm>
            <a:off x="-159488" y="81405"/>
            <a:ext cx="3742660" cy="492753"/>
          </a:xfrm>
        </p:spPr>
        <p:txBody>
          <a:bodyPr>
            <a:normAutofit/>
          </a:bodyPr>
          <a:lstStyle/>
          <a:p>
            <a:r>
              <a:rPr lang="en-US" sz="2000" b="1" u="sng" dirty="0">
                <a:solidFill>
                  <a:schemeClr val="accent6">
                    <a:lumMod val="75000"/>
                  </a:schemeClr>
                </a:solidFill>
              </a:rPr>
              <a:t>Model Validation</a:t>
            </a:r>
            <a:endParaRPr lang="en-US" sz="2000" b="1" dirty="0"/>
          </a:p>
        </p:txBody>
      </p:sp>
      <p:sp>
        <p:nvSpPr>
          <p:cNvPr id="8" name="TextBox 7">
            <a:extLst>
              <a:ext uri="{FF2B5EF4-FFF2-40B4-BE49-F238E27FC236}">
                <a16:creationId xmlns:a16="http://schemas.microsoft.com/office/drawing/2014/main" id="{23A882C6-D614-9E1C-8FA8-CAB3284A1BAB}"/>
              </a:ext>
            </a:extLst>
          </p:cNvPr>
          <p:cNvSpPr txBox="1"/>
          <p:nvPr/>
        </p:nvSpPr>
        <p:spPr>
          <a:xfrm>
            <a:off x="230372" y="801469"/>
            <a:ext cx="11731256" cy="4147289"/>
          </a:xfrm>
          <a:prstGeom prst="rect">
            <a:avLst/>
          </a:prstGeom>
          <a:noFill/>
        </p:spPr>
        <p:txBody>
          <a:bodyPr wrap="square">
            <a:spAutoFit/>
          </a:bodyPr>
          <a:lstStyle/>
          <a:p>
            <a:pPr algn="l" fontAlgn="base">
              <a:spcAft>
                <a:spcPts val="900"/>
              </a:spcAft>
            </a:pPr>
            <a:r>
              <a:rPr lang="en-US" sz="1600" b="0" i="0" u="none" strike="noStrike" dirty="0">
                <a:solidFill>
                  <a:srgbClr val="3C4043"/>
                </a:solidFill>
                <a:effectLst/>
                <a:latin typeface="Inter"/>
              </a:rPr>
              <a:t>You've built a model. But how good is it?</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We will perform Model validation to understand our model accuracy</a:t>
            </a:r>
          </a:p>
          <a:p>
            <a:pPr algn="l"/>
            <a:endParaRPr lang="en-US" sz="1600" dirty="0">
              <a:solidFill>
                <a:srgbClr val="000000"/>
              </a:solidFill>
              <a:latin typeface="Calibri" panose="020F0502020204030204" pitchFamily="34" charset="0"/>
              <a:cs typeface="Calibri" panose="020F0502020204030204" pitchFamily="34" charset="0"/>
            </a:endParaRP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0" i="0" u="none" strike="noStrike" dirty="0">
                <a:solidFill>
                  <a:srgbClr val="000000"/>
                </a:solidFill>
                <a:effectLst/>
              </a:rPr>
              <a:t>It's tempting to test your model by making predictions on your training data (the data you used to build the model) and comparing those predictions to the actual values, that’s is a major mistake. This approach can be misleading because your model has already seen this data during training.</a:t>
            </a:r>
          </a:p>
          <a:p>
            <a:pPr algn="l"/>
            <a:endParaRPr lang="en-US" sz="1600" b="0" i="0" u="none" strike="noStrike" dirty="0">
              <a:solidFill>
                <a:srgbClr val="000000"/>
              </a:solidFill>
              <a:effectLst/>
            </a:endParaRPr>
          </a:p>
          <a:p>
            <a:pPr algn="l"/>
            <a:r>
              <a:rPr lang="en-US" sz="1600" b="0" i="0" u="none" strike="noStrike" dirty="0">
                <a:solidFill>
                  <a:srgbClr val="000000"/>
                </a:solidFill>
                <a:effectLst/>
              </a:rPr>
              <a:t>Think of it like memorizing answers to a test instead of understanding the material. Sure, you'll do well on questions you've seen before, but you'll struggle with new questions. The same applies to our model - we want to know how it performs on houses it hasn't "seen" before.</a:t>
            </a:r>
          </a:p>
          <a:p>
            <a:pPr algn="l"/>
            <a:endParaRPr lang="en-US" sz="1600" b="0" i="0" u="none" strike="noStrike" dirty="0">
              <a:solidFill>
                <a:srgbClr val="000000"/>
              </a:solidFill>
              <a:effectLst/>
            </a:endParaRPr>
          </a:p>
          <a:p>
            <a:pPr algn="l"/>
            <a:r>
              <a:rPr lang="en-US" sz="1600" b="0" i="0" u="none" strike="noStrike" dirty="0">
                <a:solidFill>
                  <a:srgbClr val="000000"/>
                </a:solidFill>
                <a:effectLst/>
              </a:rPr>
              <a:t>When evaluating model quality, we need a systematic way to measure accuracy. If you have predictions and actual values for 10,000 houses, it would be overwhelming to look at each one individually. This is why we use metrics like Mean Absolute Error (MAE). Here's how MAE works…</a:t>
            </a:r>
          </a:p>
          <a:p>
            <a:pPr algn="l"/>
            <a:r>
              <a:rPr lang="en-US" sz="1600" b="0" i="0" u="none" strike="noStrike" dirty="0">
                <a:solidFill>
                  <a:srgbClr val="000000"/>
                </a:solidFill>
                <a:effectLst/>
                <a:latin typeface="Calibri" panose="020F0502020204030204" pitchFamily="34" charset="0"/>
                <a:cs typeface="Calibri" panose="020F0502020204030204" pitchFamily="34" charset="0"/>
              </a:rPr>
              <a:t> </a:t>
            </a:r>
          </a:p>
        </p:txBody>
      </p:sp>
      <p:sp>
        <p:nvSpPr>
          <p:cNvPr id="9" name="TextBox 8">
            <a:extLst>
              <a:ext uri="{FF2B5EF4-FFF2-40B4-BE49-F238E27FC236}">
                <a16:creationId xmlns:a16="http://schemas.microsoft.com/office/drawing/2014/main" id="{1664BCFF-0814-44BB-711E-58606E222A38}"/>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a:extLst>
              <a:ext uri="{FF2B5EF4-FFF2-40B4-BE49-F238E27FC236}">
                <a16:creationId xmlns:a16="http://schemas.microsoft.com/office/drawing/2014/main" id="{4C5369CA-29B4-707E-900D-E02491770052}"/>
              </a:ext>
            </a:extLst>
          </p:cNvPr>
          <p:cNvPicPr>
            <a:picLocks noChangeAspect="1"/>
          </p:cNvPicPr>
          <p:nvPr/>
        </p:nvPicPr>
        <p:blipFill>
          <a:blip r:embed="rId3"/>
          <a:stretch>
            <a:fillRect/>
          </a:stretch>
        </p:blipFill>
        <p:spPr>
          <a:xfrm>
            <a:off x="783856" y="4885458"/>
            <a:ext cx="10191513" cy="1171073"/>
          </a:xfrm>
          <a:prstGeom prst="rect">
            <a:avLst/>
          </a:prstGeom>
        </p:spPr>
      </p:pic>
      <p:sp>
        <p:nvSpPr>
          <p:cNvPr id="5" name="TextBox 4">
            <a:extLst>
              <a:ext uri="{FF2B5EF4-FFF2-40B4-BE49-F238E27FC236}">
                <a16:creationId xmlns:a16="http://schemas.microsoft.com/office/drawing/2014/main" id="{B0E52C9B-230D-40DB-350A-8FD28654EAB5}"/>
              </a:ext>
            </a:extLst>
          </p:cNvPr>
          <p:cNvSpPr txBox="1"/>
          <p:nvPr/>
        </p:nvSpPr>
        <p:spPr>
          <a:xfrm>
            <a:off x="230372" y="6213420"/>
            <a:ext cx="10380921" cy="369332"/>
          </a:xfrm>
          <a:prstGeom prst="rect">
            <a:avLst/>
          </a:prstGeom>
          <a:noFill/>
        </p:spPr>
        <p:txBody>
          <a:bodyPr wrap="square">
            <a:spAutoFit/>
          </a:bodyPr>
          <a:lstStyle/>
          <a:p>
            <a:r>
              <a:rPr lang="en-US" b="0" i="0" u="none" strike="noStrike" dirty="0">
                <a:solidFill>
                  <a:srgbClr val="000000"/>
                </a:solidFill>
                <a:effectLst/>
                <a:latin typeface="-webkit-standard"/>
              </a:rPr>
              <a:t>For example, if a house actually costs $150,000 and your model predicted $100,000, the error is $50,000.</a:t>
            </a:r>
            <a:endParaRPr lang="en-US" dirty="0"/>
          </a:p>
        </p:txBody>
      </p:sp>
    </p:spTree>
    <p:extLst>
      <p:ext uri="{BB962C8B-B14F-4D97-AF65-F5344CB8AC3E}">
        <p14:creationId xmlns:p14="http://schemas.microsoft.com/office/powerpoint/2010/main" val="820224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24D58-AF5D-F7BC-9CC2-943AE43E1D83}"/>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5E7121C0-4A69-1E93-DA21-CB7C74DB3F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7C135F7-3756-8BD8-AB0B-43C48FA0CD96}"/>
              </a:ext>
            </a:extLst>
          </p:cNvPr>
          <p:cNvSpPr>
            <a:spLocks noGrp="1"/>
          </p:cNvSpPr>
          <p:nvPr>
            <p:ph type="ctrTitle"/>
          </p:nvPr>
        </p:nvSpPr>
        <p:spPr>
          <a:xfrm>
            <a:off x="0" y="92037"/>
            <a:ext cx="2955851" cy="492753"/>
          </a:xfrm>
        </p:spPr>
        <p:txBody>
          <a:bodyPr>
            <a:normAutofit/>
          </a:bodyPr>
          <a:lstStyle/>
          <a:p>
            <a:r>
              <a:rPr lang="en-US" sz="2000" b="1" dirty="0"/>
              <a:t>MAE</a:t>
            </a:r>
          </a:p>
        </p:txBody>
      </p:sp>
      <p:sp>
        <p:nvSpPr>
          <p:cNvPr id="8" name="TextBox 7">
            <a:extLst>
              <a:ext uri="{FF2B5EF4-FFF2-40B4-BE49-F238E27FC236}">
                <a16:creationId xmlns:a16="http://schemas.microsoft.com/office/drawing/2014/main" id="{D407847B-8336-785D-7370-18DF7E5BD0DF}"/>
              </a:ext>
            </a:extLst>
          </p:cNvPr>
          <p:cNvSpPr txBox="1"/>
          <p:nvPr/>
        </p:nvSpPr>
        <p:spPr>
          <a:xfrm>
            <a:off x="390599" y="3850594"/>
            <a:ext cx="11731256" cy="2308324"/>
          </a:xfrm>
          <a:prstGeom prst="rect">
            <a:avLst/>
          </a:prstGeom>
          <a:noFill/>
        </p:spPr>
        <p:txBody>
          <a:bodyPr wrap="square">
            <a:spAutoFit/>
          </a:bodyPr>
          <a:lstStyle/>
          <a:p>
            <a:pPr algn="l"/>
            <a:r>
              <a:rPr lang="en-US" sz="1600" b="0" i="0" u="none" strike="noStrike" dirty="0">
                <a:solidFill>
                  <a:srgbClr val="000000"/>
                </a:solidFill>
                <a:effectLst/>
              </a:rPr>
              <a:t>The resulting number tells you, on average, how far off your predictions are. For example, if the MAE is 434.715 (as shown in the output), this means your model's predictions are typically off by about $434.715. In real estate terms, this helps you understand if your model is making reasonable predictions or if it needs improvement.</a:t>
            </a:r>
          </a:p>
          <a:p>
            <a:pPr algn="l"/>
            <a:endParaRPr lang="en-US" sz="1600" b="0" i="0" u="none" strike="noStrike" dirty="0">
              <a:solidFill>
                <a:srgbClr val="000000"/>
              </a:solidFill>
              <a:effectLst/>
            </a:endParaRPr>
          </a:p>
          <a:p>
            <a:pPr algn="l"/>
            <a:r>
              <a:rPr lang="en-US" sz="1600" b="0" i="0" u="none" strike="noStrike" dirty="0">
                <a:solidFill>
                  <a:srgbClr val="000000"/>
                </a:solidFill>
                <a:effectLst/>
              </a:rPr>
              <a:t>This metric is particularly useful because:</a:t>
            </a:r>
          </a:p>
          <a:p>
            <a:pPr algn="l">
              <a:buFont typeface="+mj-lt"/>
              <a:buAutoNum type="arabicPeriod"/>
            </a:pPr>
            <a:r>
              <a:rPr lang="en-US" sz="1600" b="0" i="0" u="none" strike="noStrike" dirty="0">
                <a:solidFill>
                  <a:srgbClr val="000000"/>
                </a:solidFill>
                <a:effectLst/>
              </a:rPr>
              <a:t>It's easy to understand - it's in the same units as your prediction (dollars, in this case)</a:t>
            </a:r>
          </a:p>
          <a:p>
            <a:pPr algn="l">
              <a:buFont typeface="+mj-lt"/>
              <a:buAutoNum type="arabicPeriod"/>
            </a:pPr>
            <a:r>
              <a:rPr lang="en-US" sz="1600" b="0" i="0" u="none" strike="noStrike" dirty="0">
                <a:solidFill>
                  <a:srgbClr val="000000"/>
                </a:solidFill>
                <a:effectLst/>
              </a:rPr>
              <a:t>It treats all sizes of errors proportionally</a:t>
            </a:r>
          </a:p>
          <a:p>
            <a:pPr algn="l">
              <a:buFont typeface="+mj-lt"/>
              <a:buAutoNum type="arabicPeriod"/>
            </a:pPr>
            <a:r>
              <a:rPr lang="en-US" sz="1600" b="0" i="0" u="none" strike="noStrike" dirty="0">
                <a:solidFill>
                  <a:srgbClr val="000000"/>
                </a:solidFill>
                <a:effectLst/>
              </a:rPr>
              <a:t>It gives you a clear benchmark for model improvement</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2520E739-8600-99D6-1F97-A429EC73C95B}"/>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descr="A screenshot of a computer error&#10;&#10;Description automatically generated">
            <a:extLst>
              <a:ext uri="{FF2B5EF4-FFF2-40B4-BE49-F238E27FC236}">
                <a16:creationId xmlns:a16="http://schemas.microsoft.com/office/drawing/2014/main" id="{12EA3B16-88A3-780E-06DC-96843FDB641B}"/>
              </a:ext>
            </a:extLst>
          </p:cNvPr>
          <p:cNvPicPr>
            <a:picLocks noChangeAspect="1"/>
          </p:cNvPicPr>
          <p:nvPr/>
        </p:nvPicPr>
        <p:blipFill>
          <a:blip r:embed="rId3"/>
          <a:stretch>
            <a:fillRect/>
          </a:stretch>
        </p:blipFill>
        <p:spPr>
          <a:xfrm>
            <a:off x="390599" y="832068"/>
            <a:ext cx="10584770" cy="2919374"/>
          </a:xfrm>
          <a:prstGeom prst="rect">
            <a:avLst/>
          </a:prstGeom>
        </p:spPr>
      </p:pic>
    </p:spTree>
    <p:extLst>
      <p:ext uri="{BB962C8B-B14F-4D97-AF65-F5344CB8AC3E}">
        <p14:creationId xmlns:p14="http://schemas.microsoft.com/office/powerpoint/2010/main" val="3213311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6D75-8EFD-F928-E0B2-91A35F7B8BA2}"/>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46A924A9-3236-4B0B-3C0E-17B82E0BD6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BB6ABCCF-C8E8-165D-4D1B-DDC61D78141C}"/>
              </a:ext>
            </a:extLst>
          </p:cNvPr>
          <p:cNvSpPr>
            <a:spLocks noGrp="1"/>
          </p:cNvSpPr>
          <p:nvPr>
            <p:ph type="ctrTitle"/>
          </p:nvPr>
        </p:nvSpPr>
        <p:spPr>
          <a:xfrm>
            <a:off x="184297" y="136205"/>
            <a:ext cx="4093535" cy="492753"/>
          </a:xfrm>
        </p:spPr>
        <p:txBody>
          <a:bodyPr>
            <a:noAutofit/>
          </a:bodyPr>
          <a:lstStyle/>
          <a:p>
            <a:pPr algn="l" fontAlgn="base">
              <a:spcAft>
                <a:spcPts val="600"/>
              </a:spcAft>
            </a:pPr>
            <a:r>
              <a:rPr lang="en-US" sz="1800" b="1" i="0" u="none" strike="noStrike" dirty="0">
                <a:solidFill>
                  <a:srgbClr val="202214"/>
                </a:solidFill>
                <a:effectLst/>
                <a:latin typeface="Inter"/>
              </a:rPr>
              <a:t>The Problem with "In-Sample" Scores</a:t>
            </a:r>
            <a:r>
              <a:rPr lang="en-US" sz="1800" b="1" i="0" u="sng" strike="noStrike" dirty="0">
                <a:solidFill>
                  <a:srgbClr val="008ABC"/>
                </a:solidFill>
                <a:effectLst/>
                <a:latin typeface="inherit"/>
                <a:hlinkClick r:id="rId3"/>
              </a:rPr>
              <a:t>¶</a:t>
            </a:r>
            <a:endParaRPr lang="en-US" sz="1800" b="1" dirty="0"/>
          </a:p>
        </p:txBody>
      </p:sp>
      <p:sp>
        <p:nvSpPr>
          <p:cNvPr id="8" name="TextBox 7">
            <a:extLst>
              <a:ext uri="{FF2B5EF4-FFF2-40B4-BE49-F238E27FC236}">
                <a16:creationId xmlns:a16="http://schemas.microsoft.com/office/drawing/2014/main" id="{BA5764BF-A313-7414-0A46-0D8A2B7C96D4}"/>
              </a:ext>
            </a:extLst>
          </p:cNvPr>
          <p:cNvSpPr txBox="1"/>
          <p:nvPr/>
        </p:nvSpPr>
        <p:spPr>
          <a:xfrm>
            <a:off x="230372" y="801469"/>
            <a:ext cx="11731256" cy="1815882"/>
          </a:xfrm>
          <a:prstGeom prst="rect">
            <a:avLst/>
          </a:prstGeom>
          <a:noFill/>
        </p:spPr>
        <p:txBody>
          <a:bodyPr wrap="square">
            <a:spAutoFit/>
          </a:bodyPr>
          <a:lstStyle/>
          <a:p>
            <a:pPr algn="l"/>
            <a:r>
              <a:rPr lang="en-US" sz="1600" b="1" i="0" u="none" strike="noStrike" dirty="0">
                <a:solidFill>
                  <a:srgbClr val="000000"/>
                </a:solidFill>
                <a:effectLst/>
              </a:rPr>
              <a:t>The Door Color Example</a:t>
            </a:r>
            <a:r>
              <a:rPr lang="en-US" sz="1600" b="0" i="0" u="none" strike="noStrike" dirty="0">
                <a:solidFill>
                  <a:srgbClr val="000000"/>
                </a:solidFill>
                <a:effectLst/>
              </a:rPr>
              <a:t>:</a:t>
            </a:r>
          </a:p>
          <a:p>
            <a:pPr algn="l"/>
            <a:r>
              <a:rPr lang="en-US" sz="1600" b="0" i="0" u="none" strike="noStrike" dirty="0">
                <a:solidFill>
                  <a:srgbClr val="000000"/>
                </a:solidFill>
                <a:effectLst/>
              </a:rPr>
              <a:t>Let's say all expensive houses in your data happened to have green doors</a:t>
            </a:r>
          </a:p>
          <a:p>
            <a:pPr algn="l"/>
            <a:r>
              <a:rPr lang="en-US" sz="1600" b="0" i="0" u="none" strike="noStrike" dirty="0">
                <a:solidFill>
                  <a:srgbClr val="000000"/>
                </a:solidFill>
                <a:effectLst/>
              </a:rPr>
              <a:t>Your model learns: "Green door = Expensive house"</a:t>
            </a:r>
          </a:p>
          <a:p>
            <a:pPr algn="l"/>
            <a:r>
              <a:rPr lang="en-US" sz="1600" b="0" i="0" u="none" strike="noStrike" dirty="0">
                <a:solidFill>
                  <a:srgbClr val="000000"/>
                </a:solidFill>
                <a:effectLst/>
              </a:rPr>
              <a:t>This works great on your training data</a:t>
            </a:r>
          </a:p>
          <a:p>
            <a:pPr algn="l"/>
            <a:r>
              <a:rPr lang="en-US" sz="1600" b="0" i="0" u="none" strike="noStrike" dirty="0">
                <a:solidFill>
                  <a:srgbClr val="000000"/>
                </a:solidFill>
                <a:effectLst/>
              </a:rPr>
              <a:t>But in real life, door color doesn't affect house prices!</a:t>
            </a:r>
          </a:p>
          <a:p>
            <a:pPr algn="l"/>
            <a:endParaRPr lang="en-US" sz="1600" dirty="0">
              <a:solidFill>
                <a:srgbClr val="000000"/>
              </a:solidFill>
            </a:endParaRPr>
          </a:p>
          <a:p>
            <a:pPr algn="l"/>
            <a:r>
              <a:rPr lang="en-US" sz="1600" b="0" i="0" u="none" strike="noStrike" dirty="0">
                <a:solidFill>
                  <a:srgbClr val="000000"/>
                </a:solidFill>
                <a:effectLst/>
              </a:rPr>
              <a:t>So the solution is to split the data into TRAINING and TESTING / VALIDATION data</a:t>
            </a:r>
          </a:p>
        </p:txBody>
      </p:sp>
      <p:sp>
        <p:nvSpPr>
          <p:cNvPr id="9" name="TextBox 8">
            <a:extLst>
              <a:ext uri="{FF2B5EF4-FFF2-40B4-BE49-F238E27FC236}">
                <a16:creationId xmlns:a16="http://schemas.microsoft.com/office/drawing/2014/main" id="{9AA464CC-5222-A0D0-73D5-CD78611F22CB}"/>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descr="A screenshot of a computer code&#10;&#10;Description automatically generated">
            <a:extLst>
              <a:ext uri="{FF2B5EF4-FFF2-40B4-BE49-F238E27FC236}">
                <a16:creationId xmlns:a16="http://schemas.microsoft.com/office/drawing/2014/main" id="{F5FACA1A-3FFE-7756-4FE1-EFE7E6461AB3}"/>
              </a:ext>
            </a:extLst>
          </p:cNvPr>
          <p:cNvPicPr>
            <a:picLocks noChangeAspect="1"/>
          </p:cNvPicPr>
          <p:nvPr/>
        </p:nvPicPr>
        <p:blipFill>
          <a:blip r:embed="rId4"/>
          <a:stretch>
            <a:fillRect/>
          </a:stretch>
        </p:blipFill>
        <p:spPr>
          <a:xfrm>
            <a:off x="230372" y="2789862"/>
            <a:ext cx="7772400" cy="3435713"/>
          </a:xfrm>
          <a:prstGeom prst="rect">
            <a:avLst/>
          </a:prstGeom>
        </p:spPr>
      </p:pic>
      <p:sp>
        <p:nvSpPr>
          <p:cNvPr id="5" name="TextBox 4">
            <a:extLst>
              <a:ext uri="{FF2B5EF4-FFF2-40B4-BE49-F238E27FC236}">
                <a16:creationId xmlns:a16="http://schemas.microsoft.com/office/drawing/2014/main" id="{1658C6DB-2F73-C945-D99E-184CCDBD38E5}"/>
              </a:ext>
            </a:extLst>
          </p:cNvPr>
          <p:cNvSpPr txBox="1"/>
          <p:nvPr/>
        </p:nvSpPr>
        <p:spPr>
          <a:xfrm>
            <a:off x="8325293" y="584790"/>
            <a:ext cx="3280143" cy="5078313"/>
          </a:xfrm>
          <a:prstGeom prst="rect">
            <a:avLst/>
          </a:prstGeom>
          <a:noFill/>
        </p:spPr>
        <p:txBody>
          <a:bodyPr wrap="square">
            <a:spAutoFit/>
          </a:bodyPr>
          <a:lstStyle/>
          <a:p>
            <a:pPr algn="l">
              <a:buFont typeface="+mj-lt"/>
              <a:buAutoNum type="arabicPeriod"/>
            </a:pPr>
            <a:r>
              <a:rPr lang="en-US" b="1" i="0" u="none" strike="noStrike" dirty="0">
                <a:solidFill>
                  <a:srgbClr val="000000"/>
                </a:solidFill>
                <a:effectLst/>
              </a:rPr>
              <a:t>Training Data</a:t>
            </a:r>
            <a:r>
              <a:rPr lang="en-US" b="0" i="0" u="none" strike="noStrike" dirty="0">
                <a:solidFill>
                  <a:srgbClr val="000000"/>
                </a:solidFill>
                <a:effectLst/>
              </a:rPr>
              <a:t> (</a:t>
            </a:r>
            <a:r>
              <a:rPr lang="en-US" b="0" i="0" u="none" strike="noStrike" dirty="0" err="1">
                <a:solidFill>
                  <a:srgbClr val="000000"/>
                </a:solidFill>
                <a:effectLst/>
              </a:rPr>
              <a:t>train_X</a:t>
            </a:r>
            <a:r>
              <a:rPr lang="en-US" b="0" i="0" u="none" strike="noStrike" dirty="0">
                <a:solidFill>
                  <a:srgbClr val="000000"/>
                </a:solidFill>
                <a:effectLst/>
              </a:rPr>
              <a:t>, </a:t>
            </a:r>
            <a:r>
              <a:rPr lang="en-US" b="0" i="0" u="none" strike="noStrike" dirty="0" err="1">
                <a:solidFill>
                  <a:srgbClr val="000000"/>
                </a:solidFill>
                <a:effectLst/>
              </a:rPr>
              <a:t>train_y</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Used to teach/train the model</a:t>
            </a:r>
          </a:p>
          <a:p>
            <a:pPr algn="l">
              <a:buFont typeface="Arial" panose="020B0604020202020204" pitchFamily="34" charset="0"/>
              <a:buChar char="•"/>
            </a:pPr>
            <a:r>
              <a:rPr lang="en-US" b="0" i="0" u="none" strike="noStrike" dirty="0">
                <a:solidFill>
                  <a:srgbClr val="000000"/>
                </a:solidFill>
                <a:effectLst/>
              </a:rPr>
              <a:t>Typically about 70-80% of your data</a:t>
            </a:r>
          </a:p>
          <a:p>
            <a:pPr algn="l">
              <a:buFont typeface="Arial" panose="020B0604020202020204" pitchFamily="34" charset="0"/>
              <a:buChar char="•"/>
            </a:pPr>
            <a:r>
              <a:rPr lang="en-US" b="0" i="0" u="none" strike="noStrike" dirty="0" err="1">
                <a:solidFill>
                  <a:srgbClr val="000000"/>
                </a:solidFill>
                <a:effectLst/>
              </a:rPr>
              <a:t>train_X</a:t>
            </a:r>
            <a:r>
              <a:rPr lang="en-US" b="0" i="0" u="none" strike="noStrike" dirty="0">
                <a:solidFill>
                  <a:srgbClr val="000000"/>
                </a:solidFill>
                <a:effectLst/>
              </a:rPr>
              <a:t>: Features (rooms, size, etc.)</a:t>
            </a:r>
          </a:p>
          <a:p>
            <a:pPr algn="l">
              <a:buFont typeface="Arial" panose="020B0604020202020204" pitchFamily="34" charset="0"/>
              <a:buChar char="•"/>
            </a:pPr>
            <a:r>
              <a:rPr lang="en-US" b="0" i="0" u="none" strike="noStrike" dirty="0" err="1">
                <a:solidFill>
                  <a:srgbClr val="000000"/>
                </a:solidFill>
                <a:effectLst/>
              </a:rPr>
              <a:t>train_y</a:t>
            </a:r>
            <a:r>
              <a:rPr lang="en-US" b="0" i="0" u="none" strike="noStrike" dirty="0">
                <a:solidFill>
                  <a:srgbClr val="000000"/>
                </a:solidFill>
                <a:effectLst/>
              </a:rPr>
              <a:t>: Target (prices)</a:t>
            </a:r>
          </a:p>
          <a:p>
            <a:pPr algn="l">
              <a:buFont typeface="Arial" panose="020B0604020202020204" pitchFamily="34" charset="0"/>
              <a:buChar char="•"/>
            </a:pPr>
            <a:endParaRPr lang="en-US" dirty="0">
              <a:solidFill>
                <a:srgbClr val="000000"/>
              </a:solidFill>
            </a:endParaRPr>
          </a:p>
          <a:p>
            <a:pPr algn="l">
              <a:buFont typeface="Arial" panose="020B0604020202020204" pitchFamily="34" charset="0"/>
              <a:buChar char="•"/>
            </a:pPr>
            <a:endParaRPr lang="en-US" b="0" i="0" u="none" strike="noStrike" dirty="0">
              <a:solidFill>
                <a:srgbClr val="000000"/>
              </a:solidFill>
              <a:effectLst/>
            </a:endParaRPr>
          </a:p>
          <a:p>
            <a:pPr algn="l">
              <a:buFont typeface="+mj-lt"/>
              <a:buAutoNum type="arabicPeriod" startAt="2"/>
            </a:pPr>
            <a:r>
              <a:rPr lang="en-US" b="1" i="0" u="none" strike="noStrike" dirty="0">
                <a:solidFill>
                  <a:srgbClr val="000000"/>
                </a:solidFill>
                <a:effectLst/>
              </a:rPr>
              <a:t>Validation Data</a:t>
            </a:r>
            <a:r>
              <a:rPr lang="en-US" b="0" i="0" u="none" strike="noStrike" dirty="0">
                <a:solidFill>
                  <a:srgbClr val="000000"/>
                </a:solidFill>
                <a:effectLst/>
              </a:rPr>
              <a:t> (</a:t>
            </a:r>
            <a:r>
              <a:rPr lang="en-US" b="0" i="0" u="none" strike="noStrike" dirty="0" err="1">
                <a:solidFill>
                  <a:srgbClr val="000000"/>
                </a:solidFill>
                <a:effectLst/>
              </a:rPr>
              <a:t>val_X</a:t>
            </a:r>
            <a:r>
              <a:rPr lang="en-US" b="0" i="0" u="none" strike="noStrike" dirty="0">
                <a:solidFill>
                  <a:srgbClr val="000000"/>
                </a:solidFill>
                <a:effectLst/>
              </a:rPr>
              <a:t>, </a:t>
            </a:r>
            <a:r>
              <a:rPr lang="en-US" b="0" i="0" u="none" strike="noStrike" dirty="0" err="1">
                <a:solidFill>
                  <a:srgbClr val="000000"/>
                </a:solidFill>
                <a:effectLst/>
              </a:rPr>
              <a:t>val_y</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Used to test the model</a:t>
            </a:r>
          </a:p>
          <a:p>
            <a:pPr algn="l">
              <a:buFont typeface="Arial" panose="020B0604020202020204" pitchFamily="34" charset="0"/>
              <a:buChar char="•"/>
            </a:pPr>
            <a:r>
              <a:rPr lang="en-US" b="0" i="0" u="none" strike="noStrike" dirty="0">
                <a:solidFill>
                  <a:srgbClr val="000000"/>
                </a:solidFill>
                <a:effectLst/>
              </a:rPr>
              <a:t>Typically about 20-30% of your data</a:t>
            </a:r>
          </a:p>
          <a:p>
            <a:pPr algn="l">
              <a:buFont typeface="Arial" panose="020B0604020202020204" pitchFamily="34" charset="0"/>
              <a:buChar char="•"/>
            </a:pPr>
            <a:r>
              <a:rPr lang="en-US" b="0" i="0" u="none" strike="noStrike" dirty="0" err="1">
                <a:solidFill>
                  <a:srgbClr val="000000"/>
                </a:solidFill>
                <a:effectLst/>
              </a:rPr>
              <a:t>val_X</a:t>
            </a:r>
            <a:r>
              <a:rPr lang="en-US" b="0" i="0" u="none" strike="noStrike" dirty="0">
                <a:solidFill>
                  <a:srgbClr val="000000"/>
                </a:solidFill>
                <a:effectLst/>
              </a:rPr>
              <a:t>: Features for testing</a:t>
            </a:r>
          </a:p>
          <a:p>
            <a:pPr algn="l">
              <a:buFont typeface="Arial" panose="020B0604020202020204" pitchFamily="34" charset="0"/>
              <a:buChar char="•"/>
            </a:pPr>
            <a:r>
              <a:rPr lang="en-US" b="0" i="0" u="none" strike="noStrike" dirty="0" err="1">
                <a:solidFill>
                  <a:srgbClr val="000000"/>
                </a:solidFill>
                <a:effectLst/>
              </a:rPr>
              <a:t>val_y</a:t>
            </a:r>
            <a:r>
              <a:rPr lang="en-US" b="0" i="0" u="none" strike="noStrike" dirty="0">
                <a:solidFill>
                  <a:srgbClr val="000000"/>
                </a:solidFill>
                <a:effectLst/>
              </a:rPr>
              <a:t>: Actual prices to compare with predictions</a:t>
            </a:r>
          </a:p>
        </p:txBody>
      </p:sp>
      <p:sp>
        <p:nvSpPr>
          <p:cNvPr id="10" name="TextBox 9">
            <a:extLst>
              <a:ext uri="{FF2B5EF4-FFF2-40B4-BE49-F238E27FC236}">
                <a16:creationId xmlns:a16="http://schemas.microsoft.com/office/drawing/2014/main" id="{69A4B0E3-2FFF-E2DE-1FDB-B07A0BF7E3E8}"/>
              </a:ext>
            </a:extLst>
          </p:cNvPr>
          <p:cNvSpPr txBox="1"/>
          <p:nvPr/>
        </p:nvSpPr>
        <p:spPr>
          <a:xfrm>
            <a:off x="1715786" y="6312572"/>
            <a:ext cx="6305106" cy="369332"/>
          </a:xfrm>
          <a:prstGeom prst="rect">
            <a:avLst/>
          </a:prstGeom>
          <a:noFill/>
        </p:spPr>
        <p:txBody>
          <a:bodyPr wrap="square">
            <a:spAutoFit/>
          </a:bodyPr>
          <a:lstStyle/>
          <a:p>
            <a:pPr algn="l"/>
            <a:r>
              <a:rPr lang="en-US" b="1" i="0" u="none" strike="noStrike" dirty="0">
                <a:solidFill>
                  <a:srgbClr val="C00000"/>
                </a:solidFill>
                <a:effectLst/>
              </a:rPr>
              <a:t>Never use validation data for training!</a:t>
            </a:r>
          </a:p>
        </p:txBody>
      </p:sp>
    </p:spTree>
    <p:extLst>
      <p:ext uri="{BB962C8B-B14F-4D97-AF65-F5344CB8AC3E}">
        <p14:creationId xmlns:p14="http://schemas.microsoft.com/office/powerpoint/2010/main" val="3092770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8866E-195C-6E4E-8DA2-BC8F2CAF62B2}"/>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382F1306-F661-5A2E-27DD-73EF792613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8B954C53-B23B-6123-CC04-3BB459F4F176}"/>
              </a:ext>
            </a:extLst>
          </p:cNvPr>
          <p:cNvSpPr>
            <a:spLocks noGrp="1"/>
          </p:cNvSpPr>
          <p:nvPr>
            <p:ph type="ctrTitle"/>
          </p:nvPr>
        </p:nvSpPr>
        <p:spPr>
          <a:xfrm>
            <a:off x="0" y="92037"/>
            <a:ext cx="2955851" cy="492753"/>
          </a:xfrm>
        </p:spPr>
        <p:txBody>
          <a:bodyPr>
            <a:normAutofit/>
          </a:bodyPr>
          <a:lstStyle/>
          <a:p>
            <a:r>
              <a:rPr lang="en-US" sz="2000" b="1" dirty="0"/>
              <a:t>Validation</a:t>
            </a:r>
          </a:p>
        </p:txBody>
      </p:sp>
      <p:sp>
        <p:nvSpPr>
          <p:cNvPr id="8" name="TextBox 7">
            <a:extLst>
              <a:ext uri="{FF2B5EF4-FFF2-40B4-BE49-F238E27FC236}">
                <a16:creationId xmlns:a16="http://schemas.microsoft.com/office/drawing/2014/main" id="{CCD3755A-6457-4726-EEAF-A4A2D4697666}"/>
              </a:ext>
            </a:extLst>
          </p:cNvPr>
          <p:cNvSpPr txBox="1"/>
          <p:nvPr/>
        </p:nvSpPr>
        <p:spPr>
          <a:xfrm>
            <a:off x="336697" y="2662167"/>
            <a:ext cx="11731256" cy="4247317"/>
          </a:xfrm>
          <a:prstGeom prst="rect">
            <a:avLst/>
          </a:prstGeom>
          <a:noFill/>
        </p:spPr>
        <p:txBody>
          <a:bodyPr wrap="square">
            <a:spAutoFit/>
          </a:bodyPr>
          <a:lstStyle/>
          <a:p>
            <a:pPr algn="l" fontAlgn="base">
              <a:spcAft>
                <a:spcPts val="1200"/>
              </a:spcAft>
            </a:pPr>
            <a:r>
              <a:rPr lang="en-US" sz="1600" b="0" i="0" u="none" strike="noStrike" dirty="0">
                <a:solidFill>
                  <a:srgbClr val="3C4043"/>
                </a:solidFill>
                <a:effectLst/>
                <a:latin typeface="Inter"/>
              </a:rPr>
              <a:t>The mean absolute error for the in-sample data aka Training Data was about 500 dollars. That means our </a:t>
            </a:r>
            <a:r>
              <a:rPr lang="en-US" sz="1600" dirty="0">
                <a:solidFill>
                  <a:srgbClr val="000000"/>
                </a:solidFill>
                <a:latin typeface="-webkit-standard"/>
              </a:rPr>
              <a:t>model is a</a:t>
            </a:r>
            <a:r>
              <a:rPr lang="en-US" sz="1600" b="0" i="0" u="none" strike="noStrike" dirty="0">
                <a:solidFill>
                  <a:srgbClr val="000000"/>
                </a:solidFill>
                <a:effectLst/>
                <a:latin typeface="-webkit-standard"/>
              </a:rPr>
              <a:t>lmost perfect! Like getting 99% on a practice test.</a:t>
            </a:r>
          </a:p>
          <a:p>
            <a:pPr algn="l" fontAlgn="base">
              <a:spcAft>
                <a:spcPts val="1200"/>
              </a:spcAft>
            </a:pPr>
            <a:r>
              <a:rPr lang="en-US" sz="1600" b="0" i="0" u="none" strike="noStrike" dirty="0">
                <a:solidFill>
                  <a:srgbClr val="3C4043"/>
                </a:solidFill>
                <a:effectLst/>
                <a:latin typeface="Inter"/>
              </a:rPr>
              <a:t>Out-of-sample aka Testing data is more than 250,000 dollars. That means our mode is poor. </a:t>
            </a:r>
            <a:r>
              <a:rPr lang="en-US" sz="1600" b="0" i="0" u="none" strike="noStrike" dirty="0">
                <a:solidFill>
                  <a:srgbClr val="000000"/>
                </a:solidFill>
                <a:effectLst/>
                <a:latin typeface="-webkit-standard"/>
              </a:rPr>
              <a:t>Yikes! Like failing the test badly</a:t>
            </a:r>
            <a:endParaRPr lang="en-US" sz="1600" dirty="0">
              <a:solidFill>
                <a:srgbClr val="3C4043"/>
              </a:solidFill>
              <a:latin typeface="Inter"/>
            </a:endParaRPr>
          </a:p>
          <a:p>
            <a:pPr algn="l" fontAlgn="base">
              <a:spcAft>
                <a:spcPts val="1200"/>
              </a:spcAft>
            </a:pPr>
            <a:r>
              <a:rPr lang="en-US" sz="1600" b="1" i="0" u="none" strike="noStrike" dirty="0">
                <a:solidFill>
                  <a:srgbClr val="000000"/>
                </a:solidFill>
                <a:effectLst/>
              </a:rPr>
              <a:t>To Put This in Perspective</a:t>
            </a:r>
            <a:r>
              <a:rPr lang="en-US" sz="1600" b="0" i="0" u="none" strike="noStrike" dirty="0">
                <a:solidFill>
                  <a:srgbClr val="000000"/>
                </a:solidFill>
                <a:effectLst/>
              </a:rPr>
              <a:t>:</a:t>
            </a:r>
          </a:p>
          <a:p>
            <a:pPr algn="l">
              <a:buFont typeface="Arial" panose="020B0604020202020204" pitchFamily="34" charset="0"/>
              <a:buChar char="•"/>
            </a:pPr>
            <a:r>
              <a:rPr lang="en-US" sz="1600" b="0" i="0" u="none" strike="noStrike" dirty="0">
                <a:solidFill>
                  <a:srgbClr val="000000"/>
                </a:solidFill>
                <a:effectLst/>
              </a:rPr>
              <a:t>Average house price: $1.1 million</a:t>
            </a:r>
          </a:p>
          <a:p>
            <a:pPr algn="l">
              <a:buFont typeface="Arial" panose="020B0604020202020204" pitchFamily="34" charset="0"/>
              <a:buChar char="•"/>
            </a:pPr>
            <a:r>
              <a:rPr lang="en-US" sz="1600" b="0" i="0" u="none" strike="noStrike" dirty="0">
                <a:solidFill>
                  <a:srgbClr val="000000"/>
                </a:solidFill>
                <a:effectLst/>
              </a:rPr>
              <a:t>Error on new houses: $250,000</a:t>
            </a:r>
          </a:p>
          <a:p>
            <a:pPr algn="l">
              <a:buFont typeface="Arial" panose="020B0604020202020204" pitchFamily="34" charset="0"/>
              <a:buChar char="•"/>
            </a:pPr>
            <a:r>
              <a:rPr lang="en-US" sz="1600" b="0" i="0" u="none" strike="noStrike" dirty="0">
                <a:solidFill>
                  <a:srgbClr val="000000"/>
                </a:solidFill>
                <a:effectLst/>
              </a:rPr>
              <a:t>This means we're off by about 25% (quarter) of a house's value</a:t>
            </a:r>
          </a:p>
          <a:p>
            <a:pPr algn="l">
              <a:buFont typeface="Arial" panose="020B0604020202020204" pitchFamily="34" charset="0"/>
              <a:buChar char="•"/>
            </a:pPr>
            <a:r>
              <a:rPr lang="en-US" sz="1600" b="0" i="0" u="none" strike="noStrike" dirty="0">
                <a:solidFill>
                  <a:srgbClr val="000000"/>
                </a:solidFill>
                <a:effectLst/>
              </a:rPr>
              <a:t>That's like guessing a $400,000 house could be anywhere from $150,000 to $650,000!</a:t>
            </a:r>
          </a:p>
          <a:p>
            <a:pPr algn="l"/>
            <a:endParaRPr lang="en-US" sz="1600" dirty="0">
              <a:solidFill>
                <a:srgbClr val="000000"/>
              </a:solidFill>
            </a:endParaRPr>
          </a:p>
          <a:p>
            <a:pPr algn="l"/>
            <a:r>
              <a:rPr lang="en-US" sz="1600" b="1" i="0" u="none" strike="noStrike" dirty="0">
                <a:solidFill>
                  <a:srgbClr val="000000"/>
                </a:solidFill>
                <a:effectLst/>
              </a:rPr>
              <a:t>Why This is Bad</a:t>
            </a:r>
            <a:r>
              <a:rPr lang="en-US" sz="1600" b="0" i="0" u="none" strike="noStrike" dirty="0">
                <a:solidFill>
                  <a:srgbClr val="000000"/>
                </a:solidFill>
                <a:effectLst/>
              </a:rPr>
              <a:t>:</a:t>
            </a:r>
          </a:p>
          <a:p>
            <a:pPr algn="l">
              <a:buFont typeface="Arial" panose="020B0604020202020204" pitchFamily="34" charset="0"/>
              <a:buChar char="•"/>
            </a:pPr>
            <a:r>
              <a:rPr lang="en-US" sz="1600" b="0" i="0" u="none" strike="noStrike" dirty="0">
                <a:solidFill>
                  <a:srgbClr val="000000"/>
                </a:solidFill>
                <a:effectLst/>
              </a:rPr>
              <a:t>Imagine telling a home buyer: "This house costs somewhere between $850,000 and $1,350,000"</a:t>
            </a:r>
          </a:p>
          <a:p>
            <a:pPr algn="l">
              <a:buFont typeface="Arial" panose="020B0604020202020204" pitchFamily="34" charset="0"/>
              <a:buChar char="•"/>
            </a:pPr>
            <a:r>
              <a:rPr lang="en-US" sz="1600" b="0" i="0" u="none" strike="noStrike" dirty="0">
                <a:solidFill>
                  <a:srgbClr val="000000"/>
                </a:solidFill>
                <a:effectLst/>
              </a:rPr>
              <a:t>That's too uncertain to be useful</a:t>
            </a:r>
          </a:p>
          <a:p>
            <a:pPr algn="l">
              <a:buFont typeface="Arial" panose="020B0604020202020204" pitchFamily="34" charset="0"/>
              <a:buChar char="•"/>
            </a:pPr>
            <a:r>
              <a:rPr lang="en-US" sz="1600" b="0" i="0" u="none" strike="noStrike" dirty="0">
                <a:solidFill>
                  <a:srgbClr val="000000"/>
                </a:solidFill>
                <a:effectLst/>
              </a:rPr>
              <a:t>No one would trust predictions with such large errors</a:t>
            </a:r>
          </a:p>
          <a:p>
            <a:br>
              <a:rPr lang="en-US" sz="1600" dirty="0"/>
            </a:br>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FD857909-9D5D-12D1-8F1D-93B243F472F6}"/>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5" name="Picture 4" descr="A screenshot of a computer code&#10;&#10;Description automatically generated">
            <a:extLst>
              <a:ext uri="{FF2B5EF4-FFF2-40B4-BE49-F238E27FC236}">
                <a16:creationId xmlns:a16="http://schemas.microsoft.com/office/drawing/2014/main" id="{B12BBBD3-3245-BDF1-3708-6511257C1B26}"/>
              </a:ext>
            </a:extLst>
          </p:cNvPr>
          <p:cNvPicPr>
            <a:picLocks noChangeAspect="1"/>
          </p:cNvPicPr>
          <p:nvPr/>
        </p:nvPicPr>
        <p:blipFill>
          <a:blip r:embed="rId3"/>
          <a:stretch>
            <a:fillRect/>
          </a:stretch>
        </p:blipFill>
        <p:spPr>
          <a:xfrm>
            <a:off x="575487" y="963905"/>
            <a:ext cx="4760727" cy="1586909"/>
          </a:xfrm>
          <a:prstGeom prst="rect">
            <a:avLst/>
          </a:prstGeom>
        </p:spPr>
      </p:pic>
    </p:spTree>
    <p:extLst>
      <p:ext uri="{BB962C8B-B14F-4D97-AF65-F5344CB8AC3E}">
        <p14:creationId xmlns:p14="http://schemas.microsoft.com/office/powerpoint/2010/main" val="182484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A3251-B411-4AC0-E3FD-58F2F0D7C253}"/>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A9A92E02-AD45-565A-8A9D-9BC4598751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2CFEF9E6-E364-BB4D-7190-E7BF3BD9E6BC}"/>
              </a:ext>
            </a:extLst>
          </p:cNvPr>
          <p:cNvSpPr>
            <a:spLocks noGrp="1"/>
          </p:cNvSpPr>
          <p:nvPr>
            <p:ph type="ctrTitle"/>
          </p:nvPr>
        </p:nvSpPr>
        <p:spPr>
          <a:xfrm>
            <a:off x="-1" y="92037"/>
            <a:ext cx="4242391" cy="492753"/>
          </a:xfrm>
        </p:spPr>
        <p:txBody>
          <a:bodyPr>
            <a:normAutofit/>
          </a:bodyPr>
          <a:lstStyle/>
          <a:p>
            <a:r>
              <a:rPr lang="en-US" sz="2000" b="1" u="sng" dirty="0">
                <a:solidFill>
                  <a:schemeClr val="accent6">
                    <a:lumMod val="75000"/>
                  </a:schemeClr>
                </a:solidFill>
              </a:rPr>
              <a:t>Overfitting and Underfitting</a:t>
            </a:r>
            <a:endParaRPr lang="en-US" sz="2000" b="1" dirty="0"/>
          </a:p>
        </p:txBody>
      </p:sp>
      <p:sp>
        <p:nvSpPr>
          <p:cNvPr id="8" name="TextBox 7">
            <a:extLst>
              <a:ext uri="{FF2B5EF4-FFF2-40B4-BE49-F238E27FC236}">
                <a16:creationId xmlns:a16="http://schemas.microsoft.com/office/drawing/2014/main" id="{28C47D1D-3C2D-8E73-EBFA-E64FCEE72C9E}"/>
              </a:ext>
            </a:extLst>
          </p:cNvPr>
          <p:cNvSpPr txBox="1"/>
          <p:nvPr/>
        </p:nvSpPr>
        <p:spPr>
          <a:xfrm>
            <a:off x="136395" y="584790"/>
            <a:ext cx="6668442" cy="5509200"/>
          </a:xfrm>
          <a:prstGeom prst="rect">
            <a:avLst/>
          </a:prstGeom>
          <a:noFill/>
        </p:spPr>
        <p:txBody>
          <a:bodyPr wrap="square">
            <a:spAutoFit/>
          </a:bodyPr>
          <a:lstStyle/>
          <a:p>
            <a:pPr algn="l"/>
            <a:r>
              <a:rPr lang="en-US" sz="1600" b="1" i="0" u="none" strike="noStrike" dirty="0">
                <a:solidFill>
                  <a:srgbClr val="000000"/>
                </a:solidFill>
                <a:effectLst/>
              </a:rPr>
              <a:t>Tree Depth &amp; Groups:</a:t>
            </a:r>
            <a:endParaRPr lang="en-US" sz="1600" b="0" i="0" u="none" strike="noStrike" dirty="0">
              <a:solidFill>
                <a:srgbClr val="000000"/>
              </a:solidFill>
              <a:effectLst/>
            </a:endParaRPr>
          </a:p>
          <a:p>
            <a:pPr algn="l">
              <a:buFont typeface="Arial" panose="020B0604020202020204" pitchFamily="34" charset="0"/>
              <a:buChar char="•"/>
            </a:pPr>
            <a:r>
              <a:rPr lang="en-US" sz="1600" b="0" i="0" u="none" strike="noStrike" dirty="0">
                <a:solidFill>
                  <a:srgbClr val="000000"/>
                </a:solidFill>
                <a:effectLst/>
              </a:rPr>
              <a:t>With 1 split: 2 groups</a:t>
            </a:r>
          </a:p>
          <a:p>
            <a:pPr algn="l">
              <a:buFont typeface="Arial" panose="020B0604020202020204" pitchFamily="34" charset="0"/>
              <a:buChar char="•"/>
            </a:pPr>
            <a:r>
              <a:rPr lang="en-US" sz="1600" b="0" i="0" u="none" strike="noStrike" dirty="0">
                <a:solidFill>
                  <a:srgbClr val="000000"/>
                </a:solidFill>
                <a:effectLst/>
              </a:rPr>
              <a:t>With 2 splits: 4 groups</a:t>
            </a:r>
          </a:p>
          <a:p>
            <a:pPr algn="l">
              <a:buFont typeface="Arial" panose="020B0604020202020204" pitchFamily="34" charset="0"/>
              <a:buChar char="•"/>
            </a:pPr>
            <a:r>
              <a:rPr lang="en-US" sz="1600" b="0" i="0" u="none" strike="noStrike" dirty="0">
                <a:solidFill>
                  <a:srgbClr val="000000"/>
                </a:solidFill>
                <a:effectLst/>
              </a:rPr>
              <a:t>With 4 splits: 8 groups</a:t>
            </a:r>
          </a:p>
          <a:p>
            <a:pPr algn="l">
              <a:buFont typeface="Arial" panose="020B0604020202020204" pitchFamily="34" charset="0"/>
              <a:buChar char="•"/>
            </a:pPr>
            <a:r>
              <a:rPr lang="en-US" sz="1600" b="0" i="0" u="none" strike="noStrike" dirty="0">
                <a:solidFill>
                  <a:srgbClr val="000000"/>
                </a:solidFill>
                <a:effectLst/>
              </a:rPr>
              <a:t>With 10 splits: 1024 groups!</a:t>
            </a:r>
          </a:p>
          <a:p>
            <a:pPr algn="l"/>
            <a:endParaRPr lang="en-US" sz="1600" b="0" i="0" u="none" strike="noStrike" dirty="0">
              <a:solidFill>
                <a:srgbClr val="000000"/>
              </a:solidFill>
              <a:effectLst/>
            </a:endParaRPr>
          </a:p>
          <a:p>
            <a:pPr algn="l"/>
            <a:r>
              <a:rPr lang="en-US" sz="1600" b="1" i="0" u="none" strike="noStrike" dirty="0">
                <a:solidFill>
                  <a:srgbClr val="000000"/>
                </a:solidFill>
                <a:effectLst/>
              </a:rPr>
              <a:t>The Problem:</a:t>
            </a:r>
          </a:p>
          <a:p>
            <a:pPr algn="l"/>
            <a:endParaRPr lang="en-US" sz="1600" b="0" i="0" u="none" strike="noStrike" dirty="0">
              <a:solidFill>
                <a:srgbClr val="000000"/>
              </a:solidFill>
              <a:effectLst/>
            </a:endParaRPr>
          </a:p>
          <a:p>
            <a:pPr algn="l">
              <a:buFont typeface="+mj-lt"/>
              <a:buAutoNum type="arabicPeriod"/>
            </a:pPr>
            <a:r>
              <a:rPr lang="en-US" sz="1600" b="1" i="0" u="none" strike="noStrike" dirty="0">
                <a:solidFill>
                  <a:srgbClr val="000000"/>
                </a:solidFill>
                <a:effectLst/>
              </a:rPr>
              <a:t>Deep Trees (Overfitting)</a:t>
            </a:r>
            <a:endParaRPr lang="en-US" sz="1600" b="0" i="0" u="none" strike="noStrike" dirty="0">
              <a:solidFill>
                <a:srgbClr val="000000"/>
              </a:solidFill>
              <a:effectLst/>
            </a:endParaRPr>
          </a:p>
          <a:p>
            <a:pPr marL="742950" lvl="1" indent="-285750" algn="l">
              <a:buFont typeface="+mj-lt"/>
              <a:buAutoNum type="arabicPeriod"/>
            </a:pPr>
            <a:r>
              <a:rPr lang="en-US" sz="1600" b="0" i="0" u="none" strike="noStrike" dirty="0">
                <a:solidFill>
                  <a:srgbClr val="000000"/>
                </a:solidFill>
                <a:effectLst/>
              </a:rPr>
              <a:t>Too many splits = too many small groups</a:t>
            </a:r>
          </a:p>
          <a:p>
            <a:pPr marL="742950" lvl="1" indent="-285750" algn="l">
              <a:buFont typeface="+mj-lt"/>
              <a:buAutoNum type="arabicPeriod"/>
            </a:pPr>
            <a:r>
              <a:rPr lang="en-US" sz="1600" b="0" i="0" u="none" strike="noStrike" dirty="0">
                <a:solidFill>
                  <a:srgbClr val="000000"/>
                </a:solidFill>
                <a:effectLst/>
              </a:rPr>
              <a:t>Like memorizing instead of learning</a:t>
            </a:r>
          </a:p>
          <a:p>
            <a:pPr marL="742950" lvl="1" indent="-285750" algn="l">
              <a:buFont typeface="+mj-lt"/>
              <a:buAutoNum type="arabicPeriod"/>
            </a:pPr>
            <a:r>
              <a:rPr lang="en-US" sz="1600" b="0" i="0" u="none" strike="noStrike" dirty="0">
                <a:solidFill>
                  <a:srgbClr val="000000"/>
                </a:solidFill>
                <a:effectLst/>
              </a:rPr>
              <a:t>Perfect on training data, bad on new houses</a:t>
            </a:r>
          </a:p>
          <a:p>
            <a:pPr algn="l">
              <a:buFont typeface="+mj-lt"/>
              <a:buAutoNum type="arabicPeriod"/>
            </a:pPr>
            <a:r>
              <a:rPr lang="en-US" sz="1600" b="1" i="0" u="none" strike="noStrike" dirty="0">
                <a:solidFill>
                  <a:srgbClr val="000000"/>
                </a:solidFill>
                <a:effectLst/>
              </a:rPr>
              <a:t>Shallow Trees (Underfitting)</a:t>
            </a:r>
            <a:endParaRPr lang="en-US" sz="1600" b="0" i="0" u="none" strike="noStrike" dirty="0">
              <a:solidFill>
                <a:srgbClr val="000000"/>
              </a:solidFill>
              <a:effectLst/>
            </a:endParaRPr>
          </a:p>
          <a:p>
            <a:pPr marL="742950" lvl="1" indent="-285750" algn="l">
              <a:buFont typeface="+mj-lt"/>
              <a:buAutoNum type="arabicPeriod"/>
            </a:pPr>
            <a:r>
              <a:rPr lang="en-US" sz="1600" b="0" i="0" u="none" strike="noStrike" dirty="0">
                <a:solidFill>
                  <a:srgbClr val="000000"/>
                </a:solidFill>
                <a:effectLst/>
              </a:rPr>
              <a:t>Too few splits (like 2-4 groups)</a:t>
            </a:r>
          </a:p>
          <a:p>
            <a:pPr marL="742950" lvl="1" indent="-285750" algn="l">
              <a:buFont typeface="+mj-lt"/>
              <a:buAutoNum type="arabicPeriod"/>
            </a:pPr>
            <a:r>
              <a:rPr lang="en-US" sz="1600" b="0" i="0" u="none" strike="noStrike" dirty="0">
                <a:solidFill>
                  <a:srgbClr val="000000"/>
                </a:solidFill>
                <a:effectLst/>
              </a:rPr>
              <a:t>Too simple, misses important patterns</a:t>
            </a:r>
          </a:p>
          <a:p>
            <a:pPr marL="742950" lvl="1" indent="-285750" algn="l">
              <a:buFont typeface="+mj-lt"/>
              <a:buAutoNum type="arabicPeriod"/>
            </a:pPr>
            <a:r>
              <a:rPr lang="en-US" sz="1600" b="0" i="0" u="none" strike="noStrike" dirty="0">
                <a:solidFill>
                  <a:srgbClr val="000000"/>
                </a:solidFill>
                <a:effectLst/>
              </a:rPr>
              <a:t>Bad on both training and new houses</a:t>
            </a:r>
          </a:p>
          <a:p>
            <a:pPr marL="742950" lvl="1" indent="-285750" algn="l">
              <a:buFont typeface="+mj-lt"/>
              <a:buAutoNum type="arabicPeriod"/>
            </a:pPr>
            <a:endParaRPr lang="en-US" sz="1600" b="0" i="0" u="none" strike="noStrike" dirty="0">
              <a:solidFill>
                <a:srgbClr val="000000"/>
              </a:solidFill>
              <a:effectLst/>
            </a:endParaRPr>
          </a:p>
          <a:p>
            <a:pPr algn="l"/>
            <a:r>
              <a:rPr lang="en-US" sz="1600" b="1" i="0" u="none" strike="noStrike" dirty="0">
                <a:solidFill>
                  <a:srgbClr val="000000"/>
                </a:solidFill>
                <a:effectLst/>
              </a:rPr>
              <a:t>The Solution:</a:t>
            </a:r>
            <a:endParaRPr lang="en-US" sz="1600" b="0" i="0" u="none" strike="noStrike" dirty="0">
              <a:solidFill>
                <a:srgbClr val="000000"/>
              </a:solidFill>
              <a:effectLst/>
            </a:endParaRPr>
          </a:p>
          <a:p>
            <a:pPr algn="l">
              <a:buFont typeface="Arial" panose="020B0604020202020204" pitchFamily="34" charset="0"/>
              <a:buChar char="•"/>
            </a:pPr>
            <a:r>
              <a:rPr lang="en-US" sz="1600" b="0" i="0" u="none" strike="noStrike" dirty="0">
                <a:solidFill>
                  <a:srgbClr val="000000"/>
                </a:solidFill>
                <a:effectLst/>
              </a:rPr>
              <a:t>Find the "sweet spot" between too deep and too shallow</a:t>
            </a:r>
          </a:p>
          <a:p>
            <a:pPr algn="l">
              <a:buFont typeface="Arial" panose="020B0604020202020204" pitchFamily="34" charset="0"/>
              <a:buChar char="•"/>
            </a:pPr>
            <a:r>
              <a:rPr lang="en-US" sz="1600" b="0" i="0" u="none" strike="noStrike" dirty="0">
                <a:solidFill>
                  <a:srgbClr val="000000"/>
                </a:solidFill>
                <a:effectLst/>
              </a:rPr>
              <a:t>Use validation data to find the best depth</a:t>
            </a:r>
          </a:p>
          <a:p>
            <a:pPr algn="l">
              <a:buFont typeface="Arial" panose="020B0604020202020204" pitchFamily="34" charset="0"/>
              <a:buChar char="•"/>
            </a:pPr>
            <a:r>
              <a:rPr lang="en-US" sz="1600" b="0" i="0" u="none" strike="noStrike" dirty="0">
                <a:solidFill>
                  <a:srgbClr val="000000"/>
                </a:solidFill>
                <a:effectLst/>
              </a:rPr>
              <a:t>Look for where validation accuracy is best – </a:t>
            </a:r>
          </a:p>
          <a:p>
            <a:pPr algn="l"/>
            <a:r>
              <a:rPr lang="en-US" sz="1600" b="0" i="0" u="none" strike="noStrike" dirty="0">
                <a:solidFill>
                  <a:srgbClr val="000000"/>
                </a:solidFill>
                <a:effectLst/>
              </a:rPr>
              <a:t>let’s look at this in next slide</a:t>
            </a:r>
          </a:p>
        </p:txBody>
      </p:sp>
      <p:sp>
        <p:nvSpPr>
          <p:cNvPr id="9" name="TextBox 8">
            <a:extLst>
              <a:ext uri="{FF2B5EF4-FFF2-40B4-BE49-F238E27FC236}">
                <a16:creationId xmlns:a16="http://schemas.microsoft.com/office/drawing/2014/main" id="{1F38BCF5-D22C-F5FF-1A2A-C29007F117F1}"/>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3" name="Picture 2">
            <a:extLst>
              <a:ext uri="{FF2B5EF4-FFF2-40B4-BE49-F238E27FC236}">
                <a16:creationId xmlns:a16="http://schemas.microsoft.com/office/drawing/2014/main" id="{1492BDE0-64FF-F00D-3017-E8ECB7A21DF9}"/>
              </a:ext>
            </a:extLst>
          </p:cNvPr>
          <p:cNvPicPr>
            <a:picLocks noChangeAspect="1"/>
          </p:cNvPicPr>
          <p:nvPr/>
        </p:nvPicPr>
        <p:blipFill>
          <a:blip r:embed="rId3"/>
          <a:stretch>
            <a:fillRect/>
          </a:stretch>
        </p:blipFill>
        <p:spPr>
          <a:xfrm>
            <a:off x="5502293" y="811648"/>
            <a:ext cx="6111559" cy="4316820"/>
          </a:xfrm>
          <a:prstGeom prst="rect">
            <a:avLst/>
          </a:prstGeom>
        </p:spPr>
      </p:pic>
    </p:spTree>
    <p:extLst>
      <p:ext uri="{BB962C8B-B14F-4D97-AF65-F5344CB8AC3E}">
        <p14:creationId xmlns:p14="http://schemas.microsoft.com/office/powerpoint/2010/main" val="1607207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20EC-C4B8-C2E4-1E80-95253719530D}"/>
            </a:ext>
          </a:extLst>
        </p:cNvPr>
        <p:cNvGrpSpPr/>
        <p:nvPr/>
      </p:nvGrpSpPr>
      <p:grpSpPr>
        <a:xfrm>
          <a:off x="0" y="0"/>
          <a:ext cx="0" cy="0"/>
          <a:chOff x="0" y="0"/>
          <a:chExt cx="0" cy="0"/>
        </a:xfrm>
      </p:grpSpPr>
      <p:pic>
        <p:nvPicPr>
          <p:cNvPr id="1026" name="Picture 2" descr="WiDS Worldwide | Inspiring, Educating, and Supporting Women in Data Science">
            <a:extLst>
              <a:ext uri="{FF2B5EF4-FFF2-40B4-BE49-F238E27FC236}">
                <a16:creationId xmlns:a16="http://schemas.microsoft.com/office/drawing/2014/main" id="{10714C1E-BA70-8A4C-8E37-AA0EE440DD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 t="3621" r="60717" b="-1360"/>
          <a:stretch/>
        </p:blipFill>
        <p:spPr bwMode="auto">
          <a:xfrm>
            <a:off x="10975369" y="6398086"/>
            <a:ext cx="396151" cy="4599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0798740-5E08-8982-4273-012A6FE0EBB9}"/>
              </a:ext>
            </a:extLst>
          </p:cNvPr>
          <p:cNvSpPr>
            <a:spLocks noGrp="1"/>
          </p:cNvSpPr>
          <p:nvPr>
            <p:ph type="ctrTitle"/>
          </p:nvPr>
        </p:nvSpPr>
        <p:spPr>
          <a:xfrm>
            <a:off x="0" y="92037"/>
            <a:ext cx="2955851" cy="492753"/>
          </a:xfrm>
        </p:spPr>
        <p:txBody>
          <a:bodyPr>
            <a:normAutofit/>
          </a:bodyPr>
          <a:lstStyle/>
          <a:p>
            <a:r>
              <a:rPr lang="en-US" sz="2000" b="1" u="sng" dirty="0">
                <a:solidFill>
                  <a:schemeClr val="accent6">
                    <a:lumMod val="75000"/>
                  </a:schemeClr>
                </a:solidFill>
              </a:rPr>
              <a:t>YOUR TURN</a:t>
            </a:r>
          </a:p>
        </p:txBody>
      </p:sp>
      <p:sp>
        <p:nvSpPr>
          <p:cNvPr id="8" name="TextBox 7">
            <a:extLst>
              <a:ext uri="{FF2B5EF4-FFF2-40B4-BE49-F238E27FC236}">
                <a16:creationId xmlns:a16="http://schemas.microsoft.com/office/drawing/2014/main" id="{F20FB45A-829A-7DB9-C941-8C1DEC0A76E1}"/>
              </a:ext>
            </a:extLst>
          </p:cNvPr>
          <p:cNvSpPr txBox="1"/>
          <p:nvPr/>
        </p:nvSpPr>
        <p:spPr>
          <a:xfrm>
            <a:off x="460744" y="5885402"/>
            <a:ext cx="11731256" cy="338554"/>
          </a:xfrm>
          <a:prstGeom prst="rect">
            <a:avLst/>
          </a:prstGeom>
          <a:noFill/>
        </p:spPr>
        <p:txBody>
          <a:bodyPr wrap="square">
            <a:spAutoFit/>
          </a:bodyPr>
          <a:lstStyle/>
          <a:p>
            <a:pPr algn="l"/>
            <a:r>
              <a:rPr lang="en-US" sz="1600" b="1" i="0" u="none" strike="noStrike" dirty="0">
                <a:solidFill>
                  <a:srgbClr val="000000"/>
                </a:solidFill>
                <a:effectLst/>
                <a:latin typeface="Calibri" panose="020F0502020204030204" pitchFamily="34" charset="0"/>
                <a:cs typeface="Calibri" panose="020F0502020204030204" pitchFamily="34" charset="0"/>
              </a:rPr>
              <a:t>https://</a:t>
            </a:r>
            <a:r>
              <a:rPr lang="en-US" sz="1600" b="1" i="0" u="none" strike="noStrike" dirty="0" err="1">
                <a:solidFill>
                  <a:srgbClr val="000000"/>
                </a:solidFill>
                <a:effectLst/>
                <a:latin typeface="Calibri" panose="020F0502020204030204" pitchFamily="34" charset="0"/>
                <a:cs typeface="Calibri" panose="020F0502020204030204" pitchFamily="34" charset="0"/>
              </a:rPr>
              <a:t>www.kaggle.com</a:t>
            </a:r>
            <a:r>
              <a:rPr lang="en-US" sz="1600" b="1" i="0" u="none" strike="noStrike" dirty="0">
                <a:solidFill>
                  <a:srgbClr val="000000"/>
                </a:solidFill>
                <a:effectLst/>
                <a:latin typeface="Calibri" panose="020F0502020204030204" pitchFamily="34" charset="0"/>
                <a:cs typeface="Calibri" panose="020F0502020204030204" pitchFamily="34" charset="0"/>
              </a:rPr>
              <a:t>/code/</a:t>
            </a:r>
            <a:r>
              <a:rPr lang="en-US" sz="1600" b="1" i="0" u="none" strike="noStrike" dirty="0" err="1">
                <a:solidFill>
                  <a:srgbClr val="000000"/>
                </a:solidFill>
                <a:effectLst/>
                <a:latin typeface="Calibri" panose="020F0502020204030204" pitchFamily="34" charset="0"/>
                <a:cs typeface="Calibri" panose="020F0502020204030204" pitchFamily="34" charset="0"/>
              </a:rPr>
              <a:t>alexisbcook</a:t>
            </a:r>
            <a:r>
              <a:rPr lang="en-US" sz="1600" b="1" i="0" u="none" strike="noStrike" dirty="0">
                <a:solidFill>
                  <a:srgbClr val="000000"/>
                </a:solidFill>
                <a:effectLst/>
                <a:latin typeface="Calibri" panose="020F0502020204030204" pitchFamily="34" charset="0"/>
                <a:cs typeface="Calibri" panose="020F0502020204030204" pitchFamily="34" charset="0"/>
              </a:rPr>
              <a:t>/machine-learning-competitions</a:t>
            </a:r>
            <a:endParaRPr lang="en-US" sz="1600" b="0" i="0" u="none" strike="noStrike" dirty="0">
              <a:solidFill>
                <a:srgbClr val="000000"/>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554C853-832A-F351-9816-AD8126E93C6F}"/>
              </a:ext>
            </a:extLst>
          </p:cNvPr>
          <p:cNvSpPr txBox="1"/>
          <p:nvPr/>
        </p:nvSpPr>
        <p:spPr>
          <a:xfrm>
            <a:off x="11371520" y="6497238"/>
            <a:ext cx="1180215" cy="261610"/>
          </a:xfrm>
          <a:prstGeom prst="rect">
            <a:avLst/>
          </a:prstGeom>
          <a:noFill/>
        </p:spPr>
        <p:txBody>
          <a:bodyPr wrap="square" rtlCol="0">
            <a:spAutoFit/>
          </a:bodyPr>
          <a:lstStyle/>
          <a:p>
            <a:r>
              <a:rPr lang="en-US" sz="1100" dirty="0">
                <a:solidFill>
                  <a:schemeClr val="accent3"/>
                </a:solidFill>
              </a:rPr>
              <a:t>Tej Gorde</a:t>
            </a:r>
          </a:p>
        </p:txBody>
      </p:sp>
      <p:pic>
        <p:nvPicPr>
          <p:cNvPr id="4" name="Picture 3" descr="A screenshot of a web page&#10;&#10;Description automatically generated">
            <a:extLst>
              <a:ext uri="{FF2B5EF4-FFF2-40B4-BE49-F238E27FC236}">
                <a16:creationId xmlns:a16="http://schemas.microsoft.com/office/drawing/2014/main" id="{1F071F6B-2D6D-9866-E083-D33166169B45}"/>
              </a:ext>
            </a:extLst>
          </p:cNvPr>
          <p:cNvPicPr>
            <a:picLocks noChangeAspect="1"/>
          </p:cNvPicPr>
          <p:nvPr/>
        </p:nvPicPr>
        <p:blipFill>
          <a:blip r:embed="rId3"/>
          <a:stretch>
            <a:fillRect/>
          </a:stretch>
        </p:blipFill>
        <p:spPr>
          <a:xfrm>
            <a:off x="1152524" y="684989"/>
            <a:ext cx="9363076" cy="4586295"/>
          </a:xfrm>
          <a:prstGeom prst="rect">
            <a:avLst/>
          </a:prstGeom>
        </p:spPr>
      </p:pic>
    </p:spTree>
    <p:extLst>
      <p:ext uri="{BB962C8B-B14F-4D97-AF65-F5344CB8AC3E}">
        <p14:creationId xmlns:p14="http://schemas.microsoft.com/office/powerpoint/2010/main" val="59967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TotalTime>
  <Words>1967</Words>
  <Application>Microsoft Macintosh PowerPoint</Application>
  <PresentationFormat>Widescreen</PresentationFormat>
  <Paragraphs>248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-webkit-standard</vt:lpstr>
      <vt:lpstr>Aptos</vt:lpstr>
      <vt:lpstr>Aptos Display</vt:lpstr>
      <vt:lpstr>Arial</vt:lpstr>
      <vt:lpstr>Calibri</vt:lpstr>
      <vt:lpstr>inherit</vt:lpstr>
      <vt:lpstr>Inter</vt:lpstr>
      <vt:lpstr>Office Theme</vt:lpstr>
      <vt:lpstr>Intro to Machine Learning</vt:lpstr>
      <vt:lpstr>Index</vt:lpstr>
      <vt:lpstr>How Models Work</vt:lpstr>
      <vt:lpstr>Understanding Decision Tress</vt:lpstr>
      <vt:lpstr>Improving Decision Tree</vt:lpstr>
      <vt:lpstr>Basic Data Exploration</vt:lpstr>
      <vt:lpstr>First Machine Learning Model</vt:lpstr>
      <vt:lpstr>Handling Missing Values 🧹</vt:lpstr>
      <vt:lpstr>Best Practices for Feature Selection 📝</vt:lpstr>
      <vt:lpstr>Building your Model 🤖</vt:lpstr>
      <vt:lpstr>Building your Model 🤖</vt:lpstr>
      <vt:lpstr>Model Validation</vt:lpstr>
      <vt:lpstr>MAE</vt:lpstr>
      <vt:lpstr>The Problem with "In-Sample" Scores¶</vt:lpstr>
      <vt:lpstr>Validation</vt:lpstr>
      <vt:lpstr>Overfitting and Underfitting</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Tejaswi Gorde</dc:creator>
  <cp:lastModifiedBy>Tejaswi Gorde</cp:lastModifiedBy>
  <cp:revision>5</cp:revision>
  <dcterms:created xsi:type="dcterms:W3CDTF">2024-11-11T19:40:21Z</dcterms:created>
  <dcterms:modified xsi:type="dcterms:W3CDTF">2025-11-11T15:19:16Z</dcterms:modified>
</cp:coreProperties>
</file>